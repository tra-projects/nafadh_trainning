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0d413a68-2ef3-270d-0328-e0fb7ec1ee72}">
          <p14:sldIdLst>
            <p14:sldId id="256"/>
            <p14:sldId id="257"/>
          </p14:sldIdLst>
        </p14:section>
        <p14:section name="Backend" id="{4f8df25d-f148-ceb7-3ec6-b9d97c7e6eb0}">
          <p14:sldIdLst>
            <p14:sldId id="258"/>
            <p14:sldId id="259"/>
          </p14:sldIdLst>
        </p14:section>
        <p14:section name="Frontend" id="{1ca3eecb-b55d-7516-f977-22f96fe3cdeb}">
          <p14:sldIdLst>
            <p14:sldId id="260"/>
            <p14:sldId id="261"/>
            <p14:sldId id="262"/>
            <p14:sldId id="263"/>
          </p14:sldIdLst>
        </p14:section>
        <p14:section name="Pages" id="{9e4e26b5-6b92-437c-ad61-f1ae11eca433}">
          <p14:sldIdLst>
            <p14:sldId id="264"/>
            <p14:sldId id="265"/>
          </p14:sldIdLst>
        </p14:section>
        <p14:section name="Checklist" id="{69ce2796-1319-959d-b244-95f2581cfab3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deck walks through the starter repo you received and the rules every page and endpoint must follow. The same rules live in .cursor/rules so the Cursor agent applies them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else from the product was removed. The four areas here are the shared foundation: build your module beside them, not inside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Controllers never talk to CHDBContext directly. Register new services in Common/ServiceExtensions.cs. Keep controllers thin so rules can be unit-tested in Bidding_Core.Tests.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rule is the one most often missed: a hidden button is not security. The API must reject the same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page is a standalone component loaded lazily from app.routes.ts. Real API only: no mock interceptor.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validate inside save() or in templates. Do not add password instruction paragraphs; validation errors carry the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page needs a spinner, it needs AsyncExecutorService, not a new flag.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branch on locale() === "ar" for UI copy. LocaleService is only for direction and for picking _en/_ar data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Copy an existing list (users, custom notifications, notification transactions) rather than inventing a pager. core/ui has table-pager and paged-list ready to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columns of label and value per row. Do not stretch every value across three columns.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the PR checklist. If any line is missing, the page is not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Questions. Point the team at the README for setup: connection string, JWT keys to change, and the no-migrations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NAFADH training module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How we build on the NAFADH platform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Rules, standards and design patterns for the training module team</a:t>
            </a:r>
            <a:endParaRPr lang="en-US" sz="2000" dirty="0"/>
          </a:p>
        </p:txBody>
      </p:sp>
      <p:sp>
        <p:nvSpPr>
          <p:cNvPr id="4" name="title-dot"/>
          <p:cNvSpPr/>
          <p:nvPr/>
        </p:nvSpPr>
        <p:spPr>
          <a:xfrm>
            <a:off x="9829800" y="411480"/>
            <a:ext cx="1737360" cy="1737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itle-ring"/>
          <p:cNvSpPr/>
          <p:nvPr/>
        </p:nvSpPr>
        <p:spPr>
          <a:xfrm>
            <a:off x="9326880" y="-91440"/>
            <a:ext cx="2743200" cy="2743200"/>
          </a:xfrm>
          <a:prstGeom prst="ellipse">
            <a:avLst/>
          </a:prstGeom>
          <a:solidFill>
            <a:schemeClr val="tx2">
              <a:alpha val="0"/>
            </a:schemeClr>
          </a:solidFill>
          <a:ln w="25400">
            <a:solidFill>
              <a:schemeClr val="accent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What the starter repo contains</a:t>
            </a:r>
            <a:endParaRPr lang="en-US" sz="3600" dirty="0"/>
          </a:p>
        </p:txBody>
      </p:sp>
      <p:sp>
        <p:nvSpPr>
          <p:cNvPr id="3" name="scope-1-card"/>
          <p:cNvSpPr/>
          <p:nvPr/>
        </p:nvSpPr>
        <p:spPr>
          <a:xfrm>
            <a:off x="548640" y="1463040"/>
            <a:ext cx="260604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cope-1-badge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cope-1-badge-text"/>
          <p:cNvSpPr txBox="1"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cope-1-title"/>
          <p:cNvSpPr txBox="1"/>
          <p:nvPr/>
        </p:nvSpPr>
        <p:spPr>
          <a:xfrm>
            <a:off x="1508760" y="17373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Login &amp; register</a:t>
            </a:r>
            <a:endParaRPr lang="en-US" sz="1800" dirty="0"/>
          </a:p>
        </p:txBody>
      </p:sp>
      <p:sp>
        <p:nvSpPr>
          <p:cNvPr id="7" name="scope-1-body"/>
          <p:cNvSpPr txBox="1"/>
          <p:nvPr/>
        </p:nvSpPr>
        <p:spPr>
          <a:xfrm>
            <a:off x="822960" y="23774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Staff and jobseeker login, PKI callback, registration, email verification, onboarding gate</a:t>
            </a:r>
            <a:endParaRPr lang="en-US" sz="1500" dirty="0"/>
          </a:p>
        </p:txBody>
      </p:sp>
      <p:sp>
        <p:nvSpPr>
          <p:cNvPr id="8" name="scope-2-card"/>
          <p:cNvSpPr/>
          <p:nvPr/>
        </p:nvSpPr>
        <p:spPr>
          <a:xfrm>
            <a:off x="3401568" y="1463040"/>
            <a:ext cx="260604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cope-2-badge"/>
          <p:cNvSpPr/>
          <p:nvPr/>
        </p:nvSpPr>
        <p:spPr>
          <a:xfrm>
            <a:off x="3675888" y="173736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scope-2-badge-text"/>
          <p:cNvSpPr txBox="1"/>
          <p:nvPr/>
        </p:nvSpPr>
        <p:spPr>
          <a:xfrm>
            <a:off x="3675888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scope-2-title"/>
          <p:cNvSpPr txBox="1"/>
          <p:nvPr/>
        </p:nvSpPr>
        <p:spPr>
          <a:xfrm>
            <a:off x="4361688" y="17373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Identity &amp; access</a:t>
            </a:r>
            <a:endParaRPr lang="en-US" sz="1800" dirty="0"/>
          </a:p>
        </p:txBody>
      </p:sp>
      <p:sp>
        <p:nvSpPr>
          <p:cNvPr id="12" name="scope-2-body"/>
          <p:cNvSpPr txBox="1"/>
          <p:nvPr/>
        </p:nvSpPr>
        <p:spPr>
          <a:xfrm>
            <a:off x="3675888" y="23774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Users, template roles, custom roles, groups, page assignments</a:t>
            </a:r>
            <a:endParaRPr lang="en-US" sz="1500" dirty="0"/>
          </a:p>
        </p:txBody>
      </p:sp>
      <p:sp>
        <p:nvSpPr>
          <p:cNvPr id="13" name="scope-3-card"/>
          <p:cNvSpPr/>
          <p:nvPr/>
        </p:nvSpPr>
        <p:spPr>
          <a:xfrm>
            <a:off x="6254496" y="1463040"/>
            <a:ext cx="260604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scope-3-badge"/>
          <p:cNvSpPr/>
          <p:nvPr/>
        </p:nvSpPr>
        <p:spPr>
          <a:xfrm>
            <a:off x="6528816" y="173736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scope-3-badge-text"/>
          <p:cNvSpPr txBox="1"/>
          <p:nvPr/>
        </p:nvSpPr>
        <p:spPr>
          <a:xfrm>
            <a:off x="6528816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scope-3-title"/>
          <p:cNvSpPr txBox="1"/>
          <p:nvPr/>
        </p:nvSpPr>
        <p:spPr>
          <a:xfrm>
            <a:off x="7214616" y="17373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System admin</a:t>
            </a:r>
            <a:endParaRPr lang="en-US" sz="1800" dirty="0"/>
          </a:p>
        </p:txBody>
      </p:sp>
      <p:sp>
        <p:nvSpPr>
          <p:cNvPr id="17" name="scope-3-body"/>
          <p:cNvSpPr txBox="1"/>
          <p:nvPr/>
        </p:nvSpPr>
        <p:spPr>
          <a:xfrm>
            <a:off x="6528816" y="23774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System configuration, constants and config values, audit trail</a:t>
            </a:r>
            <a:endParaRPr lang="en-US" sz="1500" dirty="0"/>
          </a:p>
        </p:txBody>
      </p:sp>
      <p:sp>
        <p:nvSpPr>
          <p:cNvPr id="18" name="scope-4-card"/>
          <p:cNvSpPr/>
          <p:nvPr/>
        </p:nvSpPr>
        <p:spPr>
          <a:xfrm>
            <a:off x="9107424" y="1463040"/>
            <a:ext cx="260604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scope-4-badge"/>
          <p:cNvSpPr/>
          <p:nvPr/>
        </p:nvSpPr>
        <p:spPr>
          <a:xfrm>
            <a:off x="9381744" y="173736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scope-4-badge-text"/>
          <p:cNvSpPr txBox="1"/>
          <p:nvPr/>
        </p:nvSpPr>
        <p:spPr>
          <a:xfrm>
            <a:off x="9381744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scope-4-title"/>
          <p:cNvSpPr txBox="1"/>
          <p:nvPr/>
        </p:nvSpPr>
        <p:spPr>
          <a:xfrm>
            <a:off x="10067544" y="173736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Notifications</a:t>
            </a:r>
            <a:endParaRPr lang="en-US" sz="1800" dirty="0"/>
          </a:p>
        </p:txBody>
      </p:sp>
      <p:sp>
        <p:nvSpPr>
          <p:cNvPr id="22" name="scope-4-body"/>
          <p:cNvSpPr txBox="1"/>
          <p:nvPr/>
        </p:nvSpPr>
        <p:spPr>
          <a:xfrm>
            <a:off x="9381744" y="237744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Templates, transactions, custom notifications, My notifications, header bell</a:t>
            </a:r>
            <a:endParaRPr lang="en-US" sz="1500" dirty="0"/>
          </a:p>
        </p:txBody>
      </p:sp>
      <p:sp>
        <p:nvSpPr>
          <p:cNvPr id="23" name="shared-db"/>
          <p:cNvSpPr/>
          <p:nvPr/>
        </p:nvSpPr>
        <p:spPr>
          <a:xfrm>
            <a:off x="548640" y="4343400"/>
            <a:ext cx="11064240" cy="1143000"/>
          </a:xfrm>
          <a:prstGeom prst="roundRect">
            <a:avLst>
              <a:gd name="adj" fmla="val 96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4" name="shared-db-text"/>
          <p:cNvSpPr txBox="1"/>
          <p:nvPr/>
        </p:nvSpPr>
        <p:spPr>
          <a:xfrm>
            <a:off x="868680" y="4343400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Shared database.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You reuse the existing entities. The main solution owns the schema and migrations.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Backend layers: each one only calls the next</a:t>
            </a:r>
            <a:endParaRPr lang="en-US" sz="3600" dirty="0"/>
          </a:p>
        </p:txBody>
      </p:sp>
      <p:sp>
        <p:nvSpPr>
          <p:cNvPr id="3" name="layer-0"/>
          <p:cNvSpPr/>
          <p:nvPr/>
        </p:nvSpPr>
        <p:spPr>
          <a:xfrm>
            <a:off x="548640" y="1417320"/>
            <a:ext cx="329184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layer-0-name"/>
          <p:cNvSpPr txBox="1"/>
          <p:nvPr/>
        </p:nvSpPr>
        <p:spPr>
          <a:xfrm>
            <a:off x="548640" y="14173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Bidding_API</a:t>
            </a:r>
            <a:endParaRPr lang="en-US" sz="1800" dirty="0"/>
          </a:p>
        </p:txBody>
      </p:sp>
      <p:sp>
        <p:nvSpPr>
          <p:cNvPr id="5" name="layer-0-desc"/>
          <p:cNvSpPr txBox="1"/>
          <p:nvPr/>
        </p:nvSpPr>
        <p:spPr>
          <a:xfrm>
            <a:off x="4206240" y="1417320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Controllers, JWT, middleware, background jobs. Thin: validate input, call a service, return.</a:t>
            </a:r>
            <a:endParaRPr lang="en-US" sz="1600" dirty="0"/>
          </a:p>
        </p:txBody>
      </p:sp>
      <p:sp>
        <p:nvSpPr>
          <p:cNvPr id="6" name="layer-0-arrow"/>
          <p:cNvSpPr/>
          <p:nvPr/>
        </p:nvSpPr>
        <p:spPr>
          <a:xfrm>
            <a:off x="2011680" y="2395728"/>
            <a:ext cx="365760" cy="210312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layer-1"/>
          <p:cNvSpPr/>
          <p:nvPr/>
        </p:nvSpPr>
        <p:spPr>
          <a:xfrm>
            <a:off x="548640" y="2624328"/>
            <a:ext cx="3291840" cy="960120"/>
          </a:xfrm>
          <a:prstGeom prst="roundRect">
            <a:avLst>
              <a:gd name="adj" fmla="val 11429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layer-1-name"/>
          <p:cNvSpPr txBox="1"/>
          <p:nvPr/>
        </p:nvSpPr>
        <p:spPr>
          <a:xfrm>
            <a:off x="548640" y="2624328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Bidding_Core</a:t>
            </a:r>
            <a:endParaRPr lang="en-US" sz="1800" dirty="0"/>
          </a:p>
        </p:txBody>
      </p:sp>
      <p:sp>
        <p:nvSpPr>
          <p:cNvPr id="9" name="layer-1-desc"/>
          <p:cNvSpPr txBox="1"/>
          <p:nvPr/>
        </p:nvSpPr>
        <p:spPr>
          <a:xfrm>
            <a:off x="4206240" y="2624328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Business services and rules. All decisions and guards live here.</a:t>
            </a:r>
            <a:endParaRPr lang="en-US" sz="1600" dirty="0"/>
          </a:p>
        </p:txBody>
      </p:sp>
      <p:sp>
        <p:nvSpPr>
          <p:cNvPr id="10" name="layer-1-arrow"/>
          <p:cNvSpPr/>
          <p:nvPr/>
        </p:nvSpPr>
        <p:spPr>
          <a:xfrm>
            <a:off x="2011680" y="3602736"/>
            <a:ext cx="365760" cy="210312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layer-2"/>
          <p:cNvSpPr/>
          <p:nvPr/>
        </p:nvSpPr>
        <p:spPr>
          <a:xfrm>
            <a:off x="548640" y="3831336"/>
            <a:ext cx="3291840" cy="960120"/>
          </a:xfrm>
          <a:prstGeom prst="roundRect">
            <a:avLst>
              <a:gd name="adj" fmla="val 1142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2" name="layer-2-name"/>
          <p:cNvSpPr txBox="1"/>
          <p:nvPr/>
        </p:nvSpPr>
        <p:spPr>
          <a:xfrm>
            <a:off x="548640" y="3831336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Bidding_DLL</a:t>
            </a:r>
            <a:endParaRPr lang="en-US" sz="1800" dirty="0"/>
          </a:p>
        </p:txBody>
      </p:sp>
      <p:sp>
        <p:nvSpPr>
          <p:cNvPr id="13" name="layer-2-desc"/>
          <p:cNvSpPr txBox="1"/>
          <p:nvPr/>
        </p:nvSpPr>
        <p:spPr>
          <a:xfrm>
            <a:off x="4206240" y="3831336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CHDBContext, data access, repositories, seed data.</a:t>
            </a:r>
            <a:endParaRPr lang="en-US" sz="1600" dirty="0"/>
          </a:p>
        </p:txBody>
      </p:sp>
      <p:sp>
        <p:nvSpPr>
          <p:cNvPr id="14" name="layer-2-arrow"/>
          <p:cNvSpPr/>
          <p:nvPr/>
        </p:nvSpPr>
        <p:spPr>
          <a:xfrm>
            <a:off x="2011680" y="4809744"/>
            <a:ext cx="365760" cy="210312"/>
          </a:xfrm>
          <a:prstGeom prst="down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layer-3"/>
          <p:cNvSpPr/>
          <p:nvPr/>
        </p:nvSpPr>
        <p:spPr>
          <a:xfrm>
            <a:off x="548640" y="5038344"/>
            <a:ext cx="3291840" cy="96012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layer-3-name"/>
          <p:cNvSpPr txBox="1"/>
          <p:nvPr/>
        </p:nvSpPr>
        <p:spPr>
          <a:xfrm>
            <a:off x="548640" y="5038344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Bidding_Models / Common</a:t>
            </a:r>
            <a:endParaRPr lang="en-US" sz="1800" dirty="0"/>
          </a:p>
        </p:txBody>
      </p:sp>
      <p:sp>
        <p:nvSpPr>
          <p:cNvPr id="17" name="layer-3-desc"/>
          <p:cNvSpPr txBox="1"/>
          <p:nvPr/>
        </p:nvSpPr>
        <p:spPr>
          <a:xfrm>
            <a:off x="4206240" y="5038344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Entities, DTOs, enums, crypto and shared helpers.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Backend rules you must keep</a:t>
            </a:r>
            <a:endParaRPr lang="en-US" sz="3600" dirty="0"/>
          </a:p>
        </p:txBody>
      </p:sp>
      <p:sp>
        <p:nvSpPr>
          <p:cNvPr id="3" name="brule-0-card"/>
          <p:cNvSpPr/>
          <p:nvPr/>
        </p:nvSpPr>
        <p:spPr>
          <a:xfrm>
            <a:off x="548640" y="1417320"/>
            <a:ext cx="54406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rule-0-badge"/>
          <p:cNvSpPr/>
          <p:nvPr/>
        </p:nvSpPr>
        <p:spPr>
          <a:xfrm>
            <a:off x="822960" y="169164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brule-0-badge-text"/>
          <p:cNvSpPr txBox="1"/>
          <p:nvPr/>
        </p:nvSpPr>
        <p:spPr>
          <a:xfrm>
            <a:off x="82296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brule-0-title"/>
          <p:cNvSpPr txBox="1"/>
          <p:nvPr/>
        </p:nvSpPr>
        <p:spPr>
          <a:xfrm>
            <a:off x="1508760" y="169164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migrations</a:t>
            </a:r>
            <a:endParaRPr lang="en-US" sz="1800" dirty="0"/>
          </a:p>
        </p:txBody>
      </p:sp>
      <p:sp>
        <p:nvSpPr>
          <p:cNvPr id="7" name="brule-0-body"/>
          <p:cNvSpPr txBox="1"/>
          <p:nvPr/>
        </p:nvSpPr>
        <p:spPr>
          <a:xfrm>
            <a:off x="822960" y="233172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Never add or run EF migrations here. Change the entity, then ask the platform team to migrate the shared database.</a:t>
            </a:r>
            <a:endParaRPr lang="en-US" sz="1600" dirty="0"/>
          </a:p>
        </p:txBody>
      </p:sp>
      <p:sp>
        <p:nvSpPr>
          <p:cNvPr id="8" name="brule-1-card"/>
          <p:cNvSpPr/>
          <p:nvPr/>
        </p:nvSpPr>
        <p:spPr>
          <a:xfrm>
            <a:off x="6172200" y="1417320"/>
            <a:ext cx="54406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rule-1-badge"/>
          <p:cNvSpPr/>
          <p:nvPr/>
        </p:nvSpPr>
        <p:spPr>
          <a:xfrm>
            <a:off x="6446520" y="16916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brule-1-badge-text"/>
          <p:cNvSpPr txBox="1"/>
          <p:nvPr/>
        </p:nvSpPr>
        <p:spPr>
          <a:xfrm>
            <a:off x="64465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brule-1-title"/>
          <p:cNvSpPr txBox="1"/>
          <p:nvPr/>
        </p:nvSpPr>
        <p:spPr>
          <a:xfrm>
            <a:off x="7132320" y="169164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UI rule = API rule</a:t>
            </a:r>
            <a:endParaRPr lang="en-US" sz="1800" dirty="0"/>
          </a:p>
        </p:txBody>
      </p:sp>
      <p:sp>
        <p:nvSpPr>
          <p:cNvPr id="12" name="brule-1-body"/>
          <p:cNvSpPr txBox="1"/>
          <p:nvPr/>
        </p:nvSpPr>
        <p:spPr>
          <a:xfrm>
            <a:off x="6446520" y="233172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Any guard the UI applies (hide, disable, block) is also enforced in the service. Return a clear BadRequest message.</a:t>
            </a:r>
            <a:endParaRPr lang="en-US" sz="1600" dirty="0"/>
          </a:p>
        </p:txBody>
      </p:sp>
      <p:sp>
        <p:nvSpPr>
          <p:cNvPr id="13" name="brule-2-card"/>
          <p:cNvSpPr/>
          <p:nvPr/>
        </p:nvSpPr>
        <p:spPr>
          <a:xfrm>
            <a:off x="548640" y="3794760"/>
            <a:ext cx="54406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rule-2-badge"/>
          <p:cNvSpPr/>
          <p:nvPr/>
        </p:nvSpPr>
        <p:spPr>
          <a:xfrm>
            <a:off x="822960" y="406908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brule-2-badge-text"/>
          <p:cNvSpPr txBox="1"/>
          <p:nvPr/>
        </p:nvSpPr>
        <p:spPr>
          <a:xfrm>
            <a:off x="82296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brule-2-title"/>
          <p:cNvSpPr txBox="1"/>
          <p:nvPr/>
        </p:nvSpPr>
        <p:spPr>
          <a:xfrm>
            <a:off x="1508760" y="406908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Register every page</a:t>
            </a:r>
            <a:endParaRPr lang="en-US" sz="1800" dirty="0"/>
          </a:p>
        </p:txBody>
      </p:sp>
      <p:sp>
        <p:nvSpPr>
          <p:cNvPr id="17" name="brule-2-body"/>
          <p:cNvSpPr txBox="1"/>
          <p:nvPr/>
        </p:nvSpPr>
        <p:spPr>
          <a:xfrm>
            <a:off x="822960" y="47091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New route? Add it to IdentityAccessAppPagesSeedData.cs with the same URL, so roles and groups can grant it.</a:t>
            </a:r>
            <a:endParaRPr lang="en-US" sz="1600" dirty="0"/>
          </a:p>
        </p:txBody>
      </p:sp>
      <p:sp>
        <p:nvSpPr>
          <p:cNvPr id="18" name="brule-3-card"/>
          <p:cNvSpPr/>
          <p:nvPr/>
        </p:nvSpPr>
        <p:spPr>
          <a:xfrm>
            <a:off x="6172200" y="3794760"/>
            <a:ext cx="5440680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brule-3-badge"/>
          <p:cNvSpPr/>
          <p:nvPr/>
        </p:nvSpPr>
        <p:spPr>
          <a:xfrm>
            <a:off x="6446520" y="406908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brule-3-badge-text"/>
          <p:cNvSpPr txBox="1"/>
          <p:nvPr/>
        </p:nvSpPr>
        <p:spPr>
          <a:xfrm>
            <a:off x="6446520" y="4069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brule-3-title"/>
          <p:cNvSpPr txBox="1"/>
          <p:nvPr/>
        </p:nvSpPr>
        <p:spPr>
          <a:xfrm>
            <a:off x="7132320" y="406908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Seeder is opt-in</a:t>
            </a:r>
            <a:endParaRPr lang="en-US" sz="1800" dirty="0"/>
          </a:p>
        </p:txBody>
      </p:sp>
      <p:sp>
        <p:nvSpPr>
          <p:cNvPr id="22" name="brule-3-body"/>
          <p:cNvSpPr txBox="1"/>
          <p:nvPr/>
        </p:nvSpPr>
        <p:spPr>
          <a:xfrm>
            <a:off x="6446520" y="470916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RunIdentityAccessSeeder stays false on the shared database unless agreed.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Angular app structure</a:t>
            </a:r>
            <a:endParaRPr lang="en-US" sz="3600" dirty="0"/>
          </a:p>
        </p:txBody>
      </p:sp>
      <p:sp>
        <p:nvSpPr>
          <p:cNvPr id="3" name="tree-0"/>
          <p:cNvSpPr/>
          <p:nvPr/>
        </p:nvSpPr>
        <p:spPr>
          <a:xfrm>
            <a:off x="548640" y="1463040"/>
            <a:ext cx="301752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ree-0-k"/>
          <p:cNvSpPr txBox="1"/>
          <p:nvPr/>
        </p:nvSpPr>
        <p:spPr>
          <a:xfrm>
            <a:off x="77724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core/</a:t>
            </a:r>
            <a:endParaRPr lang="en-US" sz="1800" dirty="0"/>
          </a:p>
        </p:txBody>
      </p:sp>
      <p:sp>
        <p:nvSpPr>
          <p:cNvPr id="5" name="tree-0-v"/>
          <p:cNvSpPr txBox="1"/>
          <p:nvPr/>
        </p:nvSpPr>
        <p:spPr>
          <a:xfrm>
            <a:off x="3840480" y="14630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auth, interceptors, store, translations, validators, ui (pipeline, pager, paged list)</a:t>
            </a:r>
            <a:endParaRPr lang="en-US" sz="1500" dirty="0"/>
          </a:p>
        </p:txBody>
      </p:sp>
      <p:sp>
        <p:nvSpPr>
          <p:cNvPr id="6" name="tree-1"/>
          <p:cNvSpPr/>
          <p:nvPr/>
        </p:nvSpPr>
        <p:spPr>
          <a:xfrm>
            <a:off x="548640" y="2560320"/>
            <a:ext cx="301752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ree-1-k"/>
          <p:cNvSpPr txBox="1"/>
          <p:nvPr/>
        </p:nvSpPr>
        <p:spPr>
          <a:xfrm>
            <a:off x="777240" y="2560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features/&lt;area&gt;/</a:t>
            </a:r>
            <a:endParaRPr lang="en-US" sz="1800" dirty="0"/>
          </a:p>
        </p:txBody>
      </p:sp>
      <p:sp>
        <p:nvSpPr>
          <p:cNvPr id="8" name="tree-1-v"/>
          <p:cNvSpPr txBox="1"/>
          <p:nvPr/>
        </p:nvSpPr>
        <p:spPr>
          <a:xfrm>
            <a:off x="3840480" y="25603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folder per feature: pages, data services, models</a:t>
            </a:r>
            <a:endParaRPr lang="en-US" sz="1500" dirty="0"/>
          </a:p>
        </p:txBody>
      </p:sp>
      <p:sp>
        <p:nvSpPr>
          <p:cNvPr id="9" name="tree-2"/>
          <p:cNvSpPr/>
          <p:nvPr/>
        </p:nvSpPr>
        <p:spPr>
          <a:xfrm>
            <a:off x="548640" y="3657600"/>
            <a:ext cx="301752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ree-2-k"/>
          <p:cNvSpPr txBox="1"/>
          <p:nvPr/>
        </p:nvSpPr>
        <p:spPr>
          <a:xfrm>
            <a:off x="777240" y="36576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layout/</a:t>
            </a:r>
            <a:endParaRPr lang="en-US" sz="1800" dirty="0"/>
          </a:p>
        </p:txBody>
      </p:sp>
      <p:sp>
        <p:nvSpPr>
          <p:cNvPr id="11" name="tree-2-v"/>
          <p:cNvSpPr txBox="1"/>
          <p:nvPr/>
        </p:nvSpPr>
        <p:spPr>
          <a:xfrm>
            <a:off x="3840480" y="36576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main layout, sidebar, header, notifications bell</a:t>
            </a:r>
            <a:endParaRPr lang="en-US" sz="1500" dirty="0"/>
          </a:p>
        </p:txBody>
      </p:sp>
      <p:sp>
        <p:nvSpPr>
          <p:cNvPr id="12" name="tree-3"/>
          <p:cNvSpPr/>
          <p:nvPr/>
        </p:nvSpPr>
        <p:spPr>
          <a:xfrm>
            <a:off x="548640" y="4754880"/>
            <a:ext cx="3017520" cy="822960"/>
          </a:xfrm>
          <a:prstGeom prst="roundRect">
            <a:avLst>
              <a:gd name="adj" fmla="val 111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ree-3-k"/>
          <p:cNvSpPr txBox="1"/>
          <p:nvPr/>
        </p:nvSpPr>
        <p:spPr>
          <a:xfrm>
            <a:off x="777240" y="4754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shared/</a:t>
            </a:r>
            <a:endParaRPr lang="en-US" sz="1800" dirty="0"/>
          </a:p>
        </p:txBody>
      </p:sp>
      <p:sp>
        <p:nvSpPr>
          <p:cNvPr id="14" name="tree-3-v"/>
          <p:cNvSpPr txBox="1"/>
          <p:nvPr/>
        </p:nvSpPr>
        <p:spPr>
          <a:xfrm>
            <a:off x="3840480" y="47548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small reusable components with no feature logic</a:t>
            </a:r>
            <a:endParaRPr lang="en-US" sz="1500" dirty="0"/>
          </a:p>
        </p:txBody>
      </p:sp>
      <p:sp>
        <p:nvSpPr>
          <p:cNvPr id="15" name="stack"/>
          <p:cNvSpPr/>
          <p:nvPr/>
        </p:nvSpPr>
        <p:spPr>
          <a:xfrm>
            <a:off x="8412480" y="1463040"/>
            <a:ext cx="3200400" cy="41148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stack-title"/>
          <p:cNvSpPr txBox="1"/>
          <p:nvPr/>
        </p:nvSpPr>
        <p:spPr>
          <a:xfrm>
            <a:off x="868680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Stack</a:t>
            </a:r>
            <a:endParaRPr lang="en-US" sz="2000" dirty="0"/>
          </a:p>
        </p:txBody>
      </p:sp>
      <p:sp>
        <p:nvSpPr>
          <p:cNvPr id="17" name="stack-body"/>
          <p:cNvSpPr txBox="1"/>
          <p:nvPr/>
        </p:nvSpPr>
        <p:spPr>
          <a:xfrm>
            <a:off x="8686800" y="2286000"/>
            <a:ext cx="2743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Angular 19 standalone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Signals + computed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NgRx feature slices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@angular/localize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Tailwind + Bootstrap classes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Every form goes through the same pipeline</a:t>
            </a:r>
            <a:endParaRPr lang="en-US" sz="3600" dirty="0"/>
          </a:p>
        </p:txBody>
      </p:sp>
      <p:sp>
        <p:nvSpPr>
          <p:cNvPr id="3" name="step-0-card"/>
          <p:cNvSpPr/>
          <p:nvPr/>
        </p:nvSpPr>
        <p:spPr>
          <a:xfrm>
            <a:off x="548640" y="1554480"/>
            <a:ext cx="2514600" cy="26517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-0-badge"/>
          <p:cNvSpPr/>
          <p:nvPr/>
        </p:nvSpPr>
        <p:spPr>
          <a:xfrm>
            <a:off x="822960" y="182880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tep-0-badge-text"/>
          <p:cNvSpPr txBox="1"/>
          <p:nvPr/>
        </p:nvSpPr>
        <p:spPr>
          <a:xfrm>
            <a:off x="82296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tep-0-title"/>
          <p:cNvSpPr txBox="1"/>
          <p:nvPr/>
        </p:nvSpPr>
        <p:spPr>
          <a:xfrm>
            <a:off x="1508760" y="1828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Validators</a:t>
            </a:r>
            <a:endParaRPr lang="en-US" sz="1800" dirty="0"/>
          </a:p>
        </p:txBody>
      </p:sp>
      <p:sp>
        <p:nvSpPr>
          <p:cNvPr id="7" name="step-0-body"/>
          <p:cNvSpPr txBox="1"/>
          <p:nvPr/>
        </p:nvSpPr>
        <p:spPr>
          <a:xfrm>
            <a:off x="822960" y="24688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@validators: shared ValidatorFns and cross-field helpers</a:t>
            </a:r>
            <a:endParaRPr lang="en-US" sz="1500" dirty="0"/>
          </a:p>
        </p:txBody>
      </p:sp>
      <p:sp>
        <p:nvSpPr>
          <p:cNvPr id="8" name="step-0-arrow"/>
          <p:cNvSpPr/>
          <p:nvPr/>
        </p:nvSpPr>
        <p:spPr>
          <a:xfrm>
            <a:off x="3108960" y="2715768"/>
            <a:ext cx="246888" cy="32004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-1-card"/>
          <p:cNvSpPr/>
          <p:nvPr/>
        </p:nvSpPr>
        <p:spPr>
          <a:xfrm>
            <a:off x="3401568" y="1554480"/>
            <a:ext cx="2514600" cy="26517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ep-1-badge"/>
          <p:cNvSpPr/>
          <p:nvPr/>
        </p:nvSpPr>
        <p:spPr>
          <a:xfrm>
            <a:off x="3675888" y="182880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1" name="step-1-badge-text"/>
          <p:cNvSpPr txBox="1"/>
          <p:nvPr/>
        </p:nvSpPr>
        <p:spPr>
          <a:xfrm>
            <a:off x="3675888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tep-1-title"/>
          <p:cNvSpPr txBox="1"/>
          <p:nvPr/>
        </p:nvSpPr>
        <p:spPr>
          <a:xfrm>
            <a:off x="4361688" y="1828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Messages</a:t>
            </a:r>
            <a:endParaRPr lang="en-US" sz="1800" dirty="0"/>
          </a:p>
        </p:txBody>
      </p:sp>
      <p:sp>
        <p:nvSpPr>
          <p:cNvPr id="13" name="step-1-body"/>
          <p:cNvSpPr txBox="1"/>
          <p:nvPr/>
        </p:nvSpPr>
        <p:spPr>
          <a:xfrm>
            <a:off x="3675888" y="24688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{{ control | validationMessage }} with localized keys</a:t>
            </a:r>
            <a:endParaRPr lang="en-US" sz="1500" dirty="0"/>
          </a:p>
        </p:txBody>
      </p:sp>
      <p:sp>
        <p:nvSpPr>
          <p:cNvPr id="14" name="step-1-arrow"/>
          <p:cNvSpPr/>
          <p:nvPr/>
        </p:nvSpPr>
        <p:spPr>
          <a:xfrm>
            <a:off x="5961888" y="2715768"/>
            <a:ext cx="246888" cy="32004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-2-card"/>
          <p:cNvSpPr/>
          <p:nvPr/>
        </p:nvSpPr>
        <p:spPr>
          <a:xfrm>
            <a:off x="6254496" y="1554480"/>
            <a:ext cx="2514600" cy="26517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ep-2-badge"/>
          <p:cNvSpPr/>
          <p:nvPr/>
        </p:nvSpPr>
        <p:spPr>
          <a:xfrm>
            <a:off x="6528816" y="182880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7" name="step-2-badge-text"/>
          <p:cNvSpPr txBox="1"/>
          <p:nvPr/>
        </p:nvSpPr>
        <p:spPr>
          <a:xfrm>
            <a:off x="6528816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step-2-title"/>
          <p:cNvSpPr txBox="1"/>
          <p:nvPr/>
        </p:nvSpPr>
        <p:spPr>
          <a:xfrm>
            <a:off x="7214616" y="1828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Pipeline</a:t>
            </a:r>
            <a:endParaRPr lang="en-US" sz="1800" dirty="0"/>
          </a:p>
        </p:txBody>
      </p:sp>
      <p:sp>
        <p:nvSpPr>
          <p:cNvPr id="19" name="step-2-body"/>
          <p:cNvSpPr txBox="1"/>
          <p:nvPr/>
        </p:nvSpPr>
        <p:spPr>
          <a:xfrm>
            <a:off x="6528816" y="24688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FormPipelineService: touch, validate, wait for async validators, then submit</a:t>
            </a:r>
            <a:endParaRPr lang="en-US" sz="1500" dirty="0"/>
          </a:p>
        </p:txBody>
      </p:sp>
      <p:sp>
        <p:nvSpPr>
          <p:cNvPr id="20" name="step-2-arrow"/>
          <p:cNvSpPr/>
          <p:nvPr/>
        </p:nvSpPr>
        <p:spPr>
          <a:xfrm>
            <a:off x="8814816" y="2715768"/>
            <a:ext cx="246888" cy="32004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step-3-card"/>
          <p:cNvSpPr/>
          <p:nvPr/>
        </p:nvSpPr>
        <p:spPr>
          <a:xfrm>
            <a:off x="9107424" y="1554480"/>
            <a:ext cx="2514600" cy="26517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tep-3-badge"/>
          <p:cNvSpPr/>
          <p:nvPr/>
        </p:nvSpPr>
        <p:spPr>
          <a:xfrm>
            <a:off x="9381744" y="18288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3" name="step-3-badge-text"/>
          <p:cNvSpPr txBox="1"/>
          <p:nvPr/>
        </p:nvSpPr>
        <p:spPr>
          <a:xfrm>
            <a:off x="9381744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step-3-title"/>
          <p:cNvSpPr txBox="1"/>
          <p:nvPr/>
        </p:nvSpPr>
        <p:spPr>
          <a:xfrm>
            <a:off x="10067544" y="182880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Executor</a:t>
            </a:r>
            <a:endParaRPr lang="en-US" sz="1800" dirty="0"/>
          </a:p>
        </p:txBody>
      </p:sp>
      <p:sp>
        <p:nvSpPr>
          <p:cNvPr id="25" name="step-3-body"/>
          <p:cNvSpPr txBox="1"/>
          <p:nvPr/>
        </p:nvSpPr>
        <p:spPr>
          <a:xfrm>
            <a:off x="9381744" y="2468880"/>
            <a:ext cx="201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AsyncExecutorService: execute() runs the HTTP call and drives loading + toasts</a:t>
            </a:r>
            <a:endParaRPr lang="en-US" sz="1500" dirty="0"/>
          </a:p>
        </p:txBody>
      </p:sp>
      <p:sp>
        <p:nvSpPr>
          <p:cNvPr id="26" name="pipeline-ref"/>
          <p:cNvSpPr txBox="1"/>
          <p:nvPr/>
        </p:nvSpPr>
        <p:spPr>
          <a:xfrm>
            <a:off x="548640" y="45262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Reference: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post-job page in the main product. Required fields show * from the validator, never hard-coded.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One loading overlay, one error path</a:t>
            </a:r>
            <a:endParaRPr lang="en-US" sz="3600" dirty="0"/>
          </a:p>
        </p:txBody>
      </p:sp>
      <p:sp>
        <p:nvSpPr>
          <p:cNvPr id="3" name="loading-card"/>
          <p:cNvSpPr/>
          <p:nvPr/>
        </p:nvSpPr>
        <p:spPr>
          <a:xfrm>
            <a:off x="548640" y="1463040"/>
            <a:ext cx="53949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oading-badge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loading-badge-text"/>
          <p:cNvSpPr txBox="1"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</a:t>
            </a:r>
            <a:endParaRPr lang="en-US" sz="1600" dirty="0"/>
          </a:p>
        </p:txBody>
      </p:sp>
      <p:sp>
        <p:nvSpPr>
          <p:cNvPr id="6" name="loading-title"/>
          <p:cNvSpPr txBox="1"/>
          <p:nvPr/>
        </p:nvSpPr>
        <p:spPr>
          <a:xfrm>
            <a:off x="1508760" y="17373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Loading (uiAsync)</a:t>
            </a:r>
            <a:endParaRPr lang="en-US" sz="1800" dirty="0"/>
          </a:p>
        </p:txBody>
      </p:sp>
      <p:sp>
        <p:nvSpPr>
          <p:cNvPr id="7" name="loading-body"/>
          <p:cNvSpPr txBox="1"/>
          <p:nvPr/>
        </p:nvSpPr>
        <p:spPr>
          <a:xfrm>
            <a:off x="822960" y="237744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AsyncExecutorService.execute() increments uiAsync.pendingDepth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MainLayout shows the blocking spinner while work is pending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Fetches: recordSuccess false; mutations: success toast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No component-level "Loading…" rows or spinners</a:t>
            </a:r>
            <a:endParaRPr lang="en-US" sz="1600" dirty="0"/>
          </a:p>
        </p:txBody>
      </p:sp>
      <p:sp>
        <p:nvSpPr>
          <p:cNvPr id="8" name="errors-card"/>
          <p:cNvSpPr/>
          <p:nvPr/>
        </p:nvSpPr>
        <p:spPr>
          <a:xfrm>
            <a:off x="6217920" y="1463040"/>
            <a:ext cx="53949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rrors-badge"/>
          <p:cNvSpPr/>
          <p:nvPr/>
        </p:nvSpPr>
        <p:spPr>
          <a:xfrm>
            <a:off x="6492240" y="1737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errors-badge-text"/>
          <p:cNvSpPr txBox="1"/>
          <p:nvPr/>
        </p:nvSpPr>
        <p:spPr>
          <a:xfrm>
            <a:off x="64922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</a:t>
            </a:r>
            <a:endParaRPr lang="en-US" sz="1600" dirty="0"/>
          </a:p>
        </p:txBody>
      </p:sp>
      <p:sp>
        <p:nvSpPr>
          <p:cNvPr id="11" name="errors-title"/>
          <p:cNvSpPr txBox="1"/>
          <p:nvPr/>
        </p:nvSpPr>
        <p:spPr>
          <a:xfrm>
            <a:off x="7178040" y="17373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Errors</a:t>
            </a:r>
            <a:endParaRPr lang="en-US" sz="1800" dirty="0"/>
          </a:p>
        </p:txBody>
      </p:sp>
      <p:sp>
        <p:nvSpPr>
          <p:cNvPr id="12" name="errors-body"/>
          <p:cNvSpPr txBox="1"/>
          <p:nvPr/>
        </p:nvSpPr>
        <p:spPr>
          <a:xfrm>
            <a:off x="6492240" y="2377440"/>
            <a:ext cx="4892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httpErrorInterceptor turns API failures into user messages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GlobalErrorHandler + ClientErrorReporter catch client crashes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API ExceptionMiddleware returns a support ticket reference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Never swallow errors in a component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State, language and direction</a:t>
            </a:r>
            <a:endParaRPr lang="en-US" sz="3600" dirty="0"/>
          </a:p>
        </p:txBody>
      </p:sp>
      <p:sp>
        <p:nvSpPr>
          <p:cNvPr id="3" name="ngrx-card"/>
          <p:cNvSpPr/>
          <p:nvPr/>
        </p:nvSpPr>
        <p:spPr>
          <a:xfrm>
            <a:off x="548640" y="146304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grx-badge"/>
          <p:cNvSpPr/>
          <p:nvPr/>
        </p:nvSpPr>
        <p:spPr>
          <a:xfrm>
            <a:off x="822960" y="173736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ngrx-badge-text"/>
          <p:cNvSpPr txBox="1"/>
          <p:nvPr/>
        </p:nvSpPr>
        <p:spPr>
          <a:xfrm>
            <a:off x="8229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</a:t>
            </a:r>
            <a:endParaRPr lang="en-US" sz="1600" dirty="0"/>
          </a:p>
        </p:txBody>
      </p:sp>
      <p:sp>
        <p:nvSpPr>
          <p:cNvPr id="6" name="ngrx-title"/>
          <p:cNvSpPr txBox="1"/>
          <p:nvPr/>
        </p:nvSpPr>
        <p:spPr>
          <a:xfrm>
            <a:off x="1508760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NgRx</a:t>
            </a:r>
            <a:endParaRPr lang="en-US" sz="1800" dirty="0"/>
          </a:p>
        </p:txBody>
      </p:sp>
      <p:sp>
        <p:nvSpPr>
          <p:cNvPr id="7" name="ngrx-body"/>
          <p:cNvSpPr txBox="1"/>
          <p:nvPr/>
        </p:nvSpPr>
        <p:spPr>
          <a:xfrm>
            <a:off x="822960" y="237744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core/store/&lt;feature&gt;/ flat files: actions, reducer, selectors, state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Write to the store after a successful HTTP call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Clear caches on logout</a:t>
            </a:r>
            <a:endParaRPr lang="en-US" sz="1500" dirty="0"/>
          </a:p>
        </p:txBody>
      </p:sp>
      <p:sp>
        <p:nvSpPr>
          <p:cNvPr id="8" name="i18n-card"/>
          <p:cNvSpPr/>
          <p:nvPr/>
        </p:nvSpPr>
        <p:spPr>
          <a:xfrm>
            <a:off x="4297680" y="146304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18n-badge"/>
          <p:cNvSpPr/>
          <p:nvPr/>
        </p:nvSpPr>
        <p:spPr>
          <a:xfrm>
            <a:off x="4572000" y="1737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i18n-badge-text"/>
          <p:cNvSpPr txBox="1"/>
          <p:nvPr/>
        </p:nvSpPr>
        <p:spPr>
          <a:xfrm>
            <a:off x="45720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T</a:t>
            </a:r>
            <a:endParaRPr lang="en-US" sz="1600" dirty="0"/>
          </a:p>
        </p:txBody>
      </p:sp>
      <p:sp>
        <p:nvSpPr>
          <p:cNvPr id="11" name="i18n-title"/>
          <p:cNvSpPr txBox="1"/>
          <p:nvPr/>
        </p:nvSpPr>
        <p:spPr>
          <a:xfrm>
            <a:off x="5257800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Translations</a:t>
            </a:r>
            <a:endParaRPr lang="en-US" sz="1800" dirty="0"/>
          </a:p>
        </p:txBody>
      </p:sp>
      <p:sp>
        <p:nvSpPr>
          <p:cNvPr id="12" name="i18n-body"/>
          <p:cNvSpPr txBox="1"/>
          <p:nvPr/>
        </p:nvSpPr>
        <p:spPr>
          <a:xfrm>
            <a:off x="4572000" y="237744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i18n attribute or $localize with a stable @@jobseeker.* ID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Arabic in core/translations/&lt;area&gt;/messages.ar.json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Register new folders in merge-ar-translations.ts</a:t>
            </a:r>
            <a:endParaRPr lang="en-US" sz="1500" dirty="0"/>
          </a:p>
        </p:txBody>
      </p:sp>
      <p:sp>
        <p:nvSpPr>
          <p:cNvPr id="13" name="bilingual-card"/>
          <p:cNvSpPr/>
          <p:nvPr/>
        </p:nvSpPr>
        <p:spPr>
          <a:xfrm>
            <a:off x="8046720" y="146304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ilingual-badge"/>
          <p:cNvSpPr/>
          <p:nvPr/>
        </p:nvSpPr>
        <p:spPr>
          <a:xfrm>
            <a:off x="8321040" y="1737360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5" name="bilingual-badge-text"/>
          <p:cNvSpPr txBox="1"/>
          <p:nvPr/>
        </p:nvSpPr>
        <p:spPr>
          <a:xfrm>
            <a:off x="83210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6" name="bilingual-title"/>
          <p:cNvSpPr txBox="1"/>
          <p:nvPr/>
        </p:nvSpPr>
        <p:spPr>
          <a:xfrm>
            <a:off x="9006840" y="1737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Bilingual data</a:t>
            </a:r>
            <a:endParaRPr lang="en-US" sz="1800" dirty="0"/>
          </a:p>
        </p:txBody>
      </p:sp>
      <p:sp>
        <p:nvSpPr>
          <p:cNvPr id="17" name="bilingual-body"/>
          <p:cNvSpPr txBox="1"/>
          <p:nvPr/>
        </p:nvSpPr>
        <p:spPr>
          <a:xfrm>
            <a:off x="8321040" y="2377440"/>
            <a:ext cx="3063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Fields come in pairs: title_en / title_ar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Forms show both inputs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Read-only views show only the active locale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RTL / LTR set by LocaleService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List pages look and behave the same</a:t>
            </a:r>
            <a:endParaRPr lang="en-US" sz="3600" dirty="0"/>
          </a:p>
        </p:txBody>
      </p:sp>
      <p:sp>
        <p:nvSpPr>
          <p:cNvPr id="3" name="wf-shell"/>
          <p:cNvSpPr/>
          <p:nvPr/>
        </p:nvSpPr>
        <p:spPr>
          <a:xfrm>
            <a:off x="548640" y="1463040"/>
            <a:ext cx="658368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wf-title"/>
          <p:cNvSpPr txBox="1"/>
          <p:nvPr/>
        </p:nvSpPr>
        <p:spPr>
          <a:xfrm>
            <a:off x="822960" y="1691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Page title</a:t>
            </a:r>
            <a:endParaRPr lang="en-US" sz="1600" dirty="0"/>
          </a:p>
        </p:txBody>
      </p:sp>
      <p:sp>
        <p:nvSpPr>
          <p:cNvPr id="5" name="wf-btn-0"/>
          <p:cNvSpPr/>
          <p:nvPr/>
        </p:nvSpPr>
        <p:spPr>
          <a:xfrm>
            <a:off x="5212080" y="1664208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wf-btn-1"/>
          <p:cNvSpPr/>
          <p:nvPr/>
        </p:nvSpPr>
        <p:spPr>
          <a:xfrm>
            <a:off x="5760720" y="1664208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wf-btn-2"/>
          <p:cNvSpPr/>
          <p:nvPr/>
        </p:nvSpPr>
        <p:spPr>
          <a:xfrm>
            <a:off x="6309360" y="1664208"/>
            <a:ext cx="4572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wf-search"/>
          <p:cNvSpPr/>
          <p:nvPr/>
        </p:nvSpPr>
        <p:spPr>
          <a:xfrm>
            <a:off x="822960" y="2331720"/>
            <a:ext cx="603504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wf-search-text"/>
          <p:cNvSpPr txBox="1"/>
          <p:nvPr/>
        </p:nvSpPr>
        <p:spPr>
          <a:xfrm>
            <a:off x="96012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Search… (runs as you type)</a:t>
            </a:r>
            <a:endParaRPr lang="en-US" sz="1200" dirty="0"/>
          </a:p>
        </p:txBody>
      </p:sp>
      <p:sp>
        <p:nvSpPr>
          <p:cNvPr id="10" name="wf-row-0"/>
          <p:cNvSpPr/>
          <p:nvPr/>
        </p:nvSpPr>
        <p:spPr>
          <a:xfrm>
            <a:off x="822960" y="3017520"/>
            <a:ext cx="6035040" cy="365760"/>
          </a:xfrm>
          <a:prstGeom prst="rect">
            <a:avLst/>
          </a:prstGeom>
          <a:solidFill>
            <a:schemeClr val="tx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wf-row-0-n"/>
          <p:cNvSpPr txBox="1"/>
          <p:nvPr/>
        </p:nvSpPr>
        <p:spPr>
          <a:xfrm>
            <a:off x="91440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#</a:t>
            </a:r>
            <a:endParaRPr lang="en-US" sz="1200" dirty="0"/>
          </a:p>
        </p:txBody>
      </p:sp>
      <p:sp>
        <p:nvSpPr>
          <p:cNvPr id="12" name="wf-row-1"/>
          <p:cNvSpPr/>
          <p:nvPr/>
        </p:nvSpPr>
        <p:spPr>
          <a:xfrm>
            <a:off x="822960" y="3429000"/>
            <a:ext cx="6035040" cy="36576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wf-row-1-n"/>
          <p:cNvSpPr txBox="1"/>
          <p:nvPr/>
        </p:nvSpPr>
        <p:spPr>
          <a:xfrm>
            <a:off x="91440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wf-row-2"/>
          <p:cNvSpPr/>
          <p:nvPr/>
        </p:nvSpPr>
        <p:spPr>
          <a:xfrm>
            <a:off x="822960" y="3840480"/>
            <a:ext cx="6035040" cy="36576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wf-row-2-n"/>
          <p:cNvSpPr txBox="1"/>
          <p:nvPr/>
        </p:nvSpPr>
        <p:spPr>
          <a:xfrm>
            <a:off x="914400" y="3840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wf-row-3"/>
          <p:cNvSpPr/>
          <p:nvPr/>
        </p:nvSpPr>
        <p:spPr>
          <a:xfrm>
            <a:off x="822960" y="4251960"/>
            <a:ext cx="6035040" cy="36576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wf-row-3-n"/>
          <p:cNvSpPr txBox="1"/>
          <p:nvPr/>
        </p:nvSpPr>
        <p:spPr>
          <a:xfrm>
            <a:off x="91440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wf-row-4"/>
          <p:cNvSpPr/>
          <p:nvPr/>
        </p:nvSpPr>
        <p:spPr>
          <a:xfrm>
            <a:off x="822960" y="4663440"/>
            <a:ext cx="6035040" cy="36576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wf-row-4-n"/>
          <p:cNvSpPr txBox="1"/>
          <p:nvPr/>
        </p:nvSpPr>
        <p:spPr>
          <a:xfrm>
            <a:off x="914400" y="4663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wf-summary"/>
          <p:cNvSpPr txBox="1"/>
          <p:nvPr/>
        </p:nvSpPr>
        <p:spPr>
          <a:xfrm>
            <a:off x="822960" y="5257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Showing 1–5 of 42</a:t>
            </a:r>
            <a:endParaRPr lang="en-US" sz="1200" dirty="0"/>
          </a:p>
        </p:txBody>
      </p:sp>
      <p:sp>
        <p:nvSpPr>
          <p:cNvPr id="21" name="wf-pager"/>
          <p:cNvSpPr txBox="1"/>
          <p:nvPr/>
        </p:nvSpPr>
        <p:spPr>
          <a:xfrm>
            <a:off x="4114800" y="5257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Per page 5 ▾   ‹   1   ›</a:t>
            </a:r>
            <a:endParaRPr lang="en-US" sz="1200" dirty="0"/>
          </a:p>
        </p:txBody>
      </p:sp>
      <p:sp>
        <p:nvSpPr>
          <p:cNvPr id="22" name="list-rules"/>
          <p:cNvSpPr txBox="1"/>
          <p:nvPr/>
        </p:nvSpPr>
        <p:spPr>
          <a:xfrm>
            <a:off x="7498080" y="1463040"/>
            <a:ext cx="41148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Server-side paging: pageIndex, pageSize and query go to the API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Page sizes 5 / 10 / 15, default 5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First column # is page-aware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Search on change (≈300 ms), no Search button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Filter drawer on mobile, table becomes cards below lg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Reset to page 1 when filters change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Detail pages and on-screen copy</a:t>
            </a:r>
            <a:endParaRPr lang="en-US" sz="3600" dirty="0"/>
          </a:p>
        </p:txBody>
      </p:sp>
      <p:sp>
        <p:nvSpPr>
          <p:cNvPr id="3" name="grid-title"/>
          <p:cNvSpPr txBox="1"/>
          <p:nvPr/>
        </p:nvSpPr>
        <p:spPr>
          <a:xfrm>
            <a:off x="548640" y="146304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Read-only grid: 4 columns on desktop</a:t>
            </a:r>
            <a:endParaRPr lang="en-US" sz="1800" dirty="0"/>
          </a:p>
        </p:txBody>
      </p:sp>
      <p:sp>
        <p:nvSpPr>
          <p:cNvPr id="4" name="grid-0-0"/>
          <p:cNvSpPr/>
          <p:nvPr/>
        </p:nvSpPr>
        <p:spPr>
          <a:xfrm>
            <a:off x="548640" y="2057400"/>
            <a:ext cx="160020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5" name="grid-0-0-t"/>
          <p:cNvSpPr txBox="1"/>
          <p:nvPr/>
        </p:nvSpPr>
        <p:spPr>
          <a:xfrm>
            <a:off x="658368" y="2057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Label</a:t>
            </a:r>
            <a:endParaRPr lang="en-US" sz="1300" dirty="0"/>
          </a:p>
        </p:txBody>
      </p:sp>
      <p:sp>
        <p:nvSpPr>
          <p:cNvPr id="6" name="grid-0-1"/>
          <p:cNvSpPr/>
          <p:nvPr/>
        </p:nvSpPr>
        <p:spPr>
          <a:xfrm>
            <a:off x="2194560" y="2057400"/>
            <a:ext cx="1600200" cy="50292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7" name="grid-0-1-t"/>
          <p:cNvSpPr txBox="1"/>
          <p:nvPr/>
        </p:nvSpPr>
        <p:spPr>
          <a:xfrm>
            <a:off x="2304288" y="2057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Value</a:t>
            </a:r>
            <a:endParaRPr lang="en-US" sz="1300" dirty="0"/>
          </a:p>
        </p:txBody>
      </p:sp>
      <p:sp>
        <p:nvSpPr>
          <p:cNvPr id="8" name="grid-0-2"/>
          <p:cNvSpPr/>
          <p:nvPr/>
        </p:nvSpPr>
        <p:spPr>
          <a:xfrm>
            <a:off x="3840480" y="2057400"/>
            <a:ext cx="160020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9" name="grid-0-2-t"/>
          <p:cNvSpPr txBox="1"/>
          <p:nvPr/>
        </p:nvSpPr>
        <p:spPr>
          <a:xfrm>
            <a:off x="3950208" y="2057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Label</a:t>
            </a:r>
            <a:endParaRPr lang="en-US" sz="1300" dirty="0"/>
          </a:p>
        </p:txBody>
      </p:sp>
      <p:sp>
        <p:nvSpPr>
          <p:cNvPr id="10" name="grid-0-3"/>
          <p:cNvSpPr/>
          <p:nvPr/>
        </p:nvSpPr>
        <p:spPr>
          <a:xfrm>
            <a:off x="5486400" y="2057400"/>
            <a:ext cx="1600200" cy="50292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1" name="grid-0-3-t"/>
          <p:cNvSpPr txBox="1"/>
          <p:nvPr/>
        </p:nvSpPr>
        <p:spPr>
          <a:xfrm>
            <a:off x="5596128" y="20574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Value</a:t>
            </a:r>
            <a:endParaRPr lang="en-US" sz="1300" dirty="0"/>
          </a:p>
        </p:txBody>
      </p:sp>
      <p:sp>
        <p:nvSpPr>
          <p:cNvPr id="12" name="grid-1-0"/>
          <p:cNvSpPr/>
          <p:nvPr/>
        </p:nvSpPr>
        <p:spPr>
          <a:xfrm>
            <a:off x="548640" y="2670048"/>
            <a:ext cx="160020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3" name="grid-1-0-t"/>
          <p:cNvSpPr txBox="1"/>
          <p:nvPr/>
        </p:nvSpPr>
        <p:spPr>
          <a:xfrm>
            <a:off x="658368" y="267004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Label</a:t>
            </a:r>
            <a:endParaRPr lang="en-US" sz="1300" dirty="0"/>
          </a:p>
        </p:txBody>
      </p:sp>
      <p:sp>
        <p:nvSpPr>
          <p:cNvPr id="14" name="grid-1-1"/>
          <p:cNvSpPr/>
          <p:nvPr/>
        </p:nvSpPr>
        <p:spPr>
          <a:xfrm>
            <a:off x="2194560" y="2670048"/>
            <a:ext cx="1600200" cy="50292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5" name="grid-1-1-t"/>
          <p:cNvSpPr txBox="1"/>
          <p:nvPr/>
        </p:nvSpPr>
        <p:spPr>
          <a:xfrm>
            <a:off x="2304288" y="267004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Value</a:t>
            </a:r>
            <a:endParaRPr lang="en-US" sz="1300" dirty="0"/>
          </a:p>
        </p:txBody>
      </p:sp>
      <p:sp>
        <p:nvSpPr>
          <p:cNvPr id="16" name="grid-1-2"/>
          <p:cNvSpPr/>
          <p:nvPr/>
        </p:nvSpPr>
        <p:spPr>
          <a:xfrm>
            <a:off x="3840480" y="2670048"/>
            <a:ext cx="160020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7" name="grid-1-2-t"/>
          <p:cNvSpPr txBox="1"/>
          <p:nvPr/>
        </p:nvSpPr>
        <p:spPr>
          <a:xfrm>
            <a:off x="3950208" y="267004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Label</a:t>
            </a:r>
            <a:endParaRPr lang="en-US" sz="1300" dirty="0"/>
          </a:p>
        </p:txBody>
      </p:sp>
      <p:sp>
        <p:nvSpPr>
          <p:cNvPr id="18" name="grid-1-3"/>
          <p:cNvSpPr/>
          <p:nvPr/>
        </p:nvSpPr>
        <p:spPr>
          <a:xfrm>
            <a:off x="5486400" y="2670048"/>
            <a:ext cx="1600200" cy="50292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19" name="grid-1-3-t"/>
          <p:cNvSpPr txBox="1"/>
          <p:nvPr/>
        </p:nvSpPr>
        <p:spPr>
          <a:xfrm>
            <a:off x="5596128" y="2670048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Value</a:t>
            </a:r>
            <a:endParaRPr lang="en-US" sz="1300" dirty="0"/>
          </a:p>
        </p:txBody>
      </p:sp>
      <p:sp>
        <p:nvSpPr>
          <p:cNvPr id="20" name="grid-2-0"/>
          <p:cNvSpPr/>
          <p:nvPr/>
        </p:nvSpPr>
        <p:spPr>
          <a:xfrm>
            <a:off x="548640" y="3282696"/>
            <a:ext cx="1600200" cy="50292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1" name="grid-2-0-t"/>
          <p:cNvSpPr txBox="1"/>
          <p:nvPr/>
        </p:nvSpPr>
        <p:spPr>
          <a:xfrm>
            <a:off x="658368" y="3282696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Notes</a:t>
            </a:r>
            <a:endParaRPr lang="en-US" sz="1300" dirty="0"/>
          </a:p>
        </p:txBody>
      </p:sp>
      <p:sp>
        <p:nvSpPr>
          <p:cNvPr id="22" name="grid-2-1"/>
          <p:cNvSpPr/>
          <p:nvPr/>
        </p:nvSpPr>
        <p:spPr>
          <a:xfrm>
            <a:off x="2194560" y="3282696"/>
            <a:ext cx="4937760" cy="50292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 w="9525">
            <a:solidFill>
              <a:schemeClr val="accent3"/>
            </a:solidFill>
            <a:prstDash val="solid"/>
          </a:ln>
        </p:spPr>
      </p:sp>
      <p:sp>
        <p:nvSpPr>
          <p:cNvPr id="23" name="grid-2-1-t"/>
          <p:cNvSpPr txBox="1"/>
          <p:nvPr/>
        </p:nvSpPr>
        <p:spPr>
          <a:xfrm>
            <a:off x="2304288" y="328269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Long text may span three columns</a:t>
            </a:r>
            <a:endParaRPr lang="en-US" sz="1300" dirty="0"/>
          </a:p>
        </p:txBody>
      </p:sp>
      <p:sp>
        <p:nvSpPr>
          <p:cNvPr id="24" name="detail-rules"/>
          <p:cNvSpPr txBox="1"/>
          <p:nvPr/>
        </p:nvSpPr>
        <p:spPr>
          <a:xfrm>
            <a:off x="548640" y="411480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Section title, then a thin separator line between sections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Actions at the top of the section, aligned to the reading start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Downloads always use the attachment chips component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Every page must work at 320 px wide</a:t>
            </a:r>
            <a:endParaRPr lang="en-US" sz="1600" dirty="0"/>
          </a:p>
        </p:txBody>
      </p:sp>
      <p:sp>
        <p:nvSpPr>
          <p:cNvPr id="25" name="copy-card"/>
          <p:cNvSpPr/>
          <p:nvPr/>
        </p:nvSpPr>
        <p:spPr>
          <a:xfrm>
            <a:off x="7680960" y="1463040"/>
            <a:ext cx="3931920" cy="310896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copy-badge"/>
          <p:cNvSpPr/>
          <p:nvPr/>
        </p:nvSpPr>
        <p:spPr>
          <a:xfrm>
            <a:off x="7955280" y="17373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copy-badge-text"/>
          <p:cNvSpPr txBox="1"/>
          <p:nvPr/>
        </p:nvSpPr>
        <p:spPr>
          <a:xfrm>
            <a:off x="795528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!</a:t>
            </a:r>
            <a:endParaRPr lang="en-US" sz="1600" dirty="0"/>
          </a:p>
        </p:txBody>
      </p:sp>
      <p:sp>
        <p:nvSpPr>
          <p:cNvPr id="28" name="copy-title"/>
          <p:cNvSpPr txBox="1"/>
          <p:nvPr/>
        </p:nvSpPr>
        <p:spPr>
          <a:xfrm>
            <a:off x="8641080" y="1737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Copy rules</a:t>
            </a:r>
            <a:endParaRPr lang="en-US" sz="1800" dirty="0"/>
          </a:p>
        </p:txBody>
      </p:sp>
      <p:sp>
        <p:nvSpPr>
          <p:cNvPr id="29" name="copy-body"/>
          <p:cNvSpPr txBox="1"/>
          <p:nvPr/>
        </p:nvSpPr>
        <p:spPr>
          <a:xfrm>
            <a:off x="7955280" y="2377440"/>
            <a:ext cx="3429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intro or helper paragraphs under titles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Only add the fields, columns and badges that were asked for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Phone fields are labelled "Phone number"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Empty states and errors are fine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Adding a new page: the checklist</a:t>
            </a:r>
            <a:endParaRPr lang="en-US" sz="3600" dirty="0"/>
          </a:p>
        </p:txBody>
      </p:sp>
      <p:sp>
        <p:nvSpPr>
          <p:cNvPr id="3" name="chk-0-badge"/>
          <p:cNvSpPr/>
          <p:nvPr/>
        </p:nvSpPr>
        <p:spPr>
          <a:xfrm>
            <a:off x="548640" y="1572768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chk-0-badge-text"/>
          <p:cNvSpPr txBox="1"/>
          <p:nvPr/>
        </p:nvSpPr>
        <p:spPr>
          <a:xfrm>
            <a:off x="54864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chk-0-t"/>
          <p:cNvSpPr txBox="1"/>
          <p:nvPr/>
        </p:nvSpPr>
        <p:spPr>
          <a:xfrm>
            <a:off x="1280160" y="14630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Route in app.routes.ts and sidebar link</a:t>
            </a:r>
            <a:endParaRPr lang="en-US" sz="1800" dirty="0"/>
          </a:p>
        </p:txBody>
      </p:sp>
      <p:sp>
        <p:nvSpPr>
          <p:cNvPr id="6" name="chk-1-badge"/>
          <p:cNvSpPr/>
          <p:nvPr/>
        </p:nvSpPr>
        <p:spPr>
          <a:xfrm>
            <a:off x="548640" y="2670048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7" name="chk-1-badge-text"/>
          <p:cNvSpPr txBox="1"/>
          <p:nvPr/>
        </p:nvSpPr>
        <p:spPr>
          <a:xfrm>
            <a:off x="54864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chk-1-t"/>
          <p:cNvSpPr txBox="1"/>
          <p:nvPr/>
        </p:nvSpPr>
        <p:spPr>
          <a:xfrm>
            <a:off x="1280160" y="25603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AppPage seed entry with the same URL</a:t>
            </a:r>
            <a:endParaRPr lang="en-US" sz="1800" dirty="0"/>
          </a:p>
        </p:txBody>
      </p:sp>
      <p:sp>
        <p:nvSpPr>
          <p:cNvPr id="9" name="chk-2-badge"/>
          <p:cNvSpPr/>
          <p:nvPr/>
        </p:nvSpPr>
        <p:spPr>
          <a:xfrm>
            <a:off x="548640" y="3767328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0" name="chk-2-badge-text"/>
          <p:cNvSpPr txBox="1"/>
          <p:nvPr/>
        </p:nvSpPr>
        <p:spPr>
          <a:xfrm>
            <a:off x="548640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chk-2-t"/>
          <p:cNvSpPr txBox="1"/>
          <p:nvPr/>
        </p:nvSpPr>
        <p:spPr>
          <a:xfrm>
            <a:off x="1280160" y="36576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API endpoint + service rule + DTOs</a:t>
            </a:r>
            <a:endParaRPr lang="en-US" sz="1800" dirty="0"/>
          </a:p>
        </p:txBody>
      </p:sp>
      <p:sp>
        <p:nvSpPr>
          <p:cNvPr id="12" name="chk-3-badge"/>
          <p:cNvSpPr/>
          <p:nvPr/>
        </p:nvSpPr>
        <p:spPr>
          <a:xfrm>
            <a:off x="548640" y="4864608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3" name="chk-3-badge-text"/>
          <p:cNvSpPr txBox="1"/>
          <p:nvPr/>
        </p:nvSpPr>
        <p:spPr>
          <a:xfrm>
            <a:off x="548640" y="4864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chk-3-t"/>
          <p:cNvSpPr txBox="1"/>
          <p:nvPr/>
        </p:nvSpPr>
        <p:spPr>
          <a:xfrm>
            <a:off x="1280160" y="47548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Data service, then NgRx slice if shared</a:t>
            </a:r>
            <a:endParaRPr lang="en-US" sz="1800" dirty="0"/>
          </a:p>
        </p:txBody>
      </p:sp>
      <p:sp>
        <p:nvSpPr>
          <p:cNvPr id="15" name="chk-4-badge"/>
          <p:cNvSpPr/>
          <p:nvPr/>
        </p:nvSpPr>
        <p:spPr>
          <a:xfrm>
            <a:off x="6172200" y="1572768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chk-4-badge-text"/>
          <p:cNvSpPr txBox="1"/>
          <p:nvPr/>
        </p:nvSpPr>
        <p:spPr>
          <a:xfrm>
            <a:off x="6172200" y="15727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chk-4-t"/>
          <p:cNvSpPr txBox="1"/>
          <p:nvPr/>
        </p:nvSpPr>
        <p:spPr>
          <a:xfrm>
            <a:off x="6903720" y="14630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Form pipeline, executor, validators</a:t>
            </a:r>
            <a:endParaRPr lang="en-US" sz="1800" dirty="0"/>
          </a:p>
        </p:txBody>
      </p:sp>
      <p:sp>
        <p:nvSpPr>
          <p:cNvPr id="18" name="chk-5-badge"/>
          <p:cNvSpPr/>
          <p:nvPr/>
        </p:nvSpPr>
        <p:spPr>
          <a:xfrm>
            <a:off x="6172200" y="2670048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chk-5-badge-text"/>
          <p:cNvSpPr txBox="1"/>
          <p:nvPr/>
        </p:nvSpPr>
        <p:spPr>
          <a:xfrm>
            <a:off x="617220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chk-5-t"/>
          <p:cNvSpPr txBox="1"/>
          <p:nvPr/>
        </p:nvSpPr>
        <p:spPr>
          <a:xfrm>
            <a:off x="6903720" y="25603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English in templates, Arabic in messages.ar.json</a:t>
            </a:r>
            <a:endParaRPr lang="en-US" sz="1800" dirty="0"/>
          </a:p>
        </p:txBody>
      </p:sp>
      <p:sp>
        <p:nvSpPr>
          <p:cNvPr id="21" name="chk-6-badge"/>
          <p:cNvSpPr/>
          <p:nvPr/>
        </p:nvSpPr>
        <p:spPr>
          <a:xfrm>
            <a:off x="6172200" y="3767328"/>
            <a:ext cx="502920" cy="5029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2" name="chk-6-badge-text"/>
          <p:cNvSpPr txBox="1"/>
          <p:nvPr/>
        </p:nvSpPr>
        <p:spPr>
          <a:xfrm>
            <a:off x="6172200" y="3767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chk-6-t"/>
          <p:cNvSpPr txBox="1"/>
          <p:nvPr/>
        </p:nvSpPr>
        <p:spPr>
          <a:xfrm>
            <a:off x="6903720" y="36576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Mobile layout and RTL checked</a:t>
            </a:r>
            <a:endParaRPr lang="en-US" sz="1800" dirty="0"/>
          </a:p>
        </p:txBody>
      </p:sp>
      <p:sp>
        <p:nvSpPr>
          <p:cNvPr id="24" name="chk-7-badge"/>
          <p:cNvSpPr/>
          <p:nvPr/>
        </p:nvSpPr>
        <p:spPr>
          <a:xfrm>
            <a:off x="6172200" y="4864608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chk-7-badge-text"/>
          <p:cNvSpPr txBox="1"/>
          <p:nvPr/>
        </p:nvSpPr>
        <p:spPr>
          <a:xfrm>
            <a:off x="6172200" y="4864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26" name="chk-7-t"/>
          <p:cNvSpPr txBox="1"/>
          <p:nvPr/>
        </p:nvSpPr>
        <p:spPr>
          <a:xfrm>
            <a:off x="6903720" y="47548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2–3 tests for the new rule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Done means tested, bilingual and enforced in the API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Rules live in .cursor/rules and docs/DESIGN-GUIDE.md. Read them before your first PR.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fadh Training">
  <a:themeElements>
    <a:clrScheme name="Nafadh Training">
      <a:dk1>
        <a:srgbClr val="1B2A30"/>
      </a:dk1>
      <a:lt1>
        <a:srgbClr val="FFFFFF"/>
      </a:lt1>
      <a:dk2>
        <a:srgbClr val="0F4C5C"/>
      </a:dk2>
      <a:lt2>
        <a:srgbClr val="EEF4F5"/>
      </a:lt2>
      <a:accent1>
        <a:srgbClr val="0F4C5C"/>
      </a:accent1>
      <a:accent2>
        <a:srgbClr val="E36414"/>
      </a:accent2>
      <a:accent3>
        <a:srgbClr val="5F9EA0"/>
      </a:accent3>
      <a:accent4>
        <a:srgbClr val="FB8B24"/>
      </a:accent4>
      <a:accent5>
        <a:srgbClr val="9A031E"/>
      </a:accent5>
      <a:accent6>
        <a:srgbClr val="6B7C85"/>
      </a:accent6>
      <a:hlink>
        <a:srgbClr val="0F4C5C"/>
      </a:hlink>
      <a:folHlink>
        <a:srgbClr val="5F9EA0"/>
      </a:folHlink>
    </a:clrScheme>
    <a:fontScheme name="Nafadh Train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Training module: rules, standards and patterns</dc:title>
  <dc:subject>PptxGenJS Presentation</dc:subject>
  <dc:creator>NAFADH platform team</dc:creator>
  <cp:lastModifiedBy>NAFADH platform team</cp:lastModifiedBy>
  <cp:revision>1</cp:revision>
  <dcterms:created xsi:type="dcterms:W3CDTF">2026-10-10T16:55:18Z</dcterms:created>
  <dcterms:modified xsi:type="dcterms:W3CDTF">2026-10-10T16:55:18Z</dcterms:modified>
</cp:coreProperties>
</file>