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f446ceb9-4852-00d8-b4c0-3239a4d48b1f}">
          <p14:sldIdLst>
            <p14:sldId id="256"/>
            <p14:sldId id="257"/>
          </p14:sldIdLst>
        </p14:section>
        <p14:section name="Backend" id="{104c24d1-bd61-03a7-12fd-0217eee9d8d4}">
          <p14:sldIdLst>
            <p14:sldId id="258"/>
            <p14:sldId id="259"/>
          </p14:sldIdLst>
        </p14:section>
        <p14:section name="Frontend" id="{0a61b297-b4af-10a1-8125-2fca5312b195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Pages" id="{ee645d21-89f9-9ab7-9602-7cfae371cedf}">
          <p14:sldIdLst>
            <p14:sldId id="266"/>
            <p14:sldId id="267"/>
          </p14:sldIdLst>
        </p14:section>
        <p14:section name="Checklist" id="{1cde8afa-f3e6-c4fb-cb0c-8e0b9e51e943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This deck walks through the starter repo you received and the rules every page and endpoint must follow. The same rules live in .cursor/rules so the Cursor agent applies them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else from the product was removed. The four areas here are the shared foundation: build your module beside them, not inside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Controllers never talk to CHDBContext directly. Register new services in Bidding_API/Common/ServiceExtensions.cs. Keep controllers thin so rules can be unit-tested in Bidding_Core.Tests.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second rule is the one most often missed: a hidden button is not security. The API must reject the same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page is a standalone component loaded lazily from app.routes.ts. Real API only: no mock interceptor.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validate inside save() or in templates. Do not add password instruction paragraphs; validation errors carry the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pipeline lives in TrainingModule/src/app/core/ui/form-pipeline.service.ts. The page never calls markAllAsTouched, never sets a loading flag and never shows a toast itself. Each stop returns a reason so the page can react if it needs to, but most pages just return.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numbers. The point: a page only describes the form, the HTTP call and the messages. Validation order, loading, errors and toasts are handled once, in core/ui.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 page needs a spinner, it needs AsyncExecutorService, not a new flag.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branch on locale() === "ar" for UI copy. LocaleService is only for direction and for picking _en/_ar data fields.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Copy an existing list (users, custom notifications, notification transactions) rather than inventing a pager. TrainingModule/src/app/core/ui has table-pager and paged-list ready to use. The showcase list (/admin/showcase) is the reference.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columns of label and value per row. Do not stretch every value across three columns.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as the PR checklist. If any line is missing, the page is not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Questions. Point the team at the README for setup: connection string, JWT keys to change, and the no-migrations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100584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NAFADH training module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How we build on the NAFADH platform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Rules, standards and design patterns for the training module team</a:t>
            </a:r>
            <a:endParaRPr lang="en-US" sz="2000" dirty="0"/>
          </a:p>
        </p:txBody>
      </p:sp>
      <p:sp>
        <p:nvSpPr>
          <p:cNvPr id="4" name="title-dot"/>
          <p:cNvSpPr/>
          <p:nvPr/>
        </p:nvSpPr>
        <p:spPr>
          <a:xfrm>
            <a:off x="9829800" y="411480"/>
            <a:ext cx="1737360" cy="1737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itle-ring"/>
          <p:cNvSpPr/>
          <p:nvPr/>
        </p:nvSpPr>
        <p:spPr>
          <a:xfrm>
            <a:off x="9326880" y="-91440"/>
            <a:ext cx="2743200" cy="2743200"/>
          </a:xfrm>
          <a:prstGeom prst="ellipse">
            <a:avLst/>
          </a:prstGeom>
          <a:solidFill>
            <a:schemeClr val="tx2">
              <a:alpha val="0"/>
            </a:schemeClr>
          </a:solidFill>
          <a:ln w="25400">
            <a:solidFill>
              <a:schemeClr val="accent3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What the starter repo contains</a:t>
            </a:r>
            <a:endParaRPr lang="en-US" sz="3600" dirty="0"/>
          </a:p>
        </p:txBody>
      </p:sp>
      <p:sp>
        <p:nvSpPr>
          <p:cNvPr id="3" name="scope-1-card"/>
          <p:cNvSpPr/>
          <p:nvPr/>
        </p:nvSpPr>
        <p:spPr>
          <a:xfrm>
            <a:off x="548640" y="1463040"/>
            <a:ext cx="260604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cope-1-badge"/>
          <p:cNvSpPr/>
          <p:nvPr/>
        </p:nvSpPr>
        <p:spPr>
          <a:xfrm>
            <a:off x="822960" y="173736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scope-1-badge-text"/>
          <p:cNvSpPr txBox="1"/>
          <p:nvPr/>
        </p:nvSpPr>
        <p:spPr>
          <a:xfrm>
            <a:off x="82296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scope-1-title"/>
          <p:cNvSpPr txBox="1"/>
          <p:nvPr/>
        </p:nvSpPr>
        <p:spPr>
          <a:xfrm>
            <a:off x="1508760" y="17373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Login &amp; register</a:t>
            </a:r>
            <a:endParaRPr lang="en-US" sz="1800" dirty="0"/>
          </a:p>
        </p:txBody>
      </p:sp>
      <p:sp>
        <p:nvSpPr>
          <p:cNvPr id="7" name="scope-1-body"/>
          <p:cNvSpPr txBox="1"/>
          <p:nvPr/>
        </p:nvSpPr>
        <p:spPr>
          <a:xfrm>
            <a:off x="822960" y="237744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Staff and jobseeker login, PKI callback, registration, email verification, onboarding gate</a:t>
            </a:r>
            <a:endParaRPr lang="en-US" sz="1500" dirty="0"/>
          </a:p>
        </p:txBody>
      </p:sp>
      <p:sp>
        <p:nvSpPr>
          <p:cNvPr id="8" name="scope-2-card"/>
          <p:cNvSpPr/>
          <p:nvPr/>
        </p:nvSpPr>
        <p:spPr>
          <a:xfrm>
            <a:off x="3401568" y="1463040"/>
            <a:ext cx="260604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cope-2-badge"/>
          <p:cNvSpPr/>
          <p:nvPr/>
        </p:nvSpPr>
        <p:spPr>
          <a:xfrm>
            <a:off x="3675888" y="173736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scope-2-badge-text"/>
          <p:cNvSpPr txBox="1"/>
          <p:nvPr/>
        </p:nvSpPr>
        <p:spPr>
          <a:xfrm>
            <a:off x="3675888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scope-2-title"/>
          <p:cNvSpPr txBox="1"/>
          <p:nvPr/>
        </p:nvSpPr>
        <p:spPr>
          <a:xfrm>
            <a:off x="4361688" y="17373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Identity &amp; access</a:t>
            </a:r>
            <a:endParaRPr lang="en-US" sz="1800" dirty="0"/>
          </a:p>
        </p:txBody>
      </p:sp>
      <p:sp>
        <p:nvSpPr>
          <p:cNvPr id="12" name="scope-2-body"/>
          <p:cNvSpPr txBox="1"/>
          <p:nvPr/>
        </p:nvSpPr>
        <p:spPr>
          <a:xfrm>
            <a:off x="3675888" y="237744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Users, template roles, custom roles, groups, page assignments</a:t>
            </a:r>
            <a:endParaRPr lang="en-US" sz="1500" dirty="0"/>
          </a:p>
        </p:txBody>
      </p:sp>
      <p:sp>
        <p:nvSpPr>
          <p:cNvPr id="13" name="scope-3-card"/>
          <p:cNvSpPr/>
          <p:nvPr/>
        </p:nvSpPr>
        <p:spPr>
          <a:xfrm>
            <a:off x="6254496" y="1463040"/>
            <a:ext cx="260604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cope-3-badge"/>
          <p:cNvSpPr/>
          <p:nvPr/>
        </p:nvSpPr>
        <p:spPr>
          <a:xfrm>
            <a:off x="6528816" y="173736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scope-3-badge-text"/>
          <p:cNvSpPr txBox="1"/>
          <p:nvPr/>
        </p:nvSpPr>
        <p:spPr>
          <a:xfrm>
            <a:off x="6528816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scope-3-title"/>
          <p:cNvSpPr txBox="1"/>
          <p:nvPr/>
        </p:nvSpPr>
        <p:spPr>
          <a:xfrm>
            <a:off x="7214616" y="17373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System admin</a:t>
            </a:r>
            <a:endParaRPr lang="en-US" sz="1800" dirty="0"/>
          </a:p>
        </p:txBody>
      </p:sp>
      <p:sp>
        <p:nvSpPr>
          <p:cNvPr id="17" name="scope-3-body"/>
          <p:cNvSpPr txBox="1"/>
          <p:nvPr/>
        </p:nvSpPr>
        <p:spPr>
          <a:xfrm>
            <a:off x="6528816" y="237744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System configuration, constants and config values, audit trail</a:t>
            </a:r>
            <a:endParaRPr lang="en-US" sz="1500" dirty="0"/>
          </a:p>
        </p:txBody>
      </p:sp>
      <p:sp>
        <p:nvSpPr>
          <p:cNvPr id="18" name="scope-4-card"/>
          <p:cNvSpPr/>
          <p:nvPr/>
        </p:nvSpPr>
        <p:spPr>
          <a:xfrm>
            <a:off x="9107424" y="1463040"/>
            <a:ext cx="260604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cope-4-badge"/>
          <p:cNvSpPr/>
          <p:nvPr/>
        </p:nvSpPr>
        <p:spPr>
          <a:xfrm>
            <a:off x="9381744" y="173736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scope-4-badge-text"/>
          <p:cNvSpPr txBox="1"/>
          <p:nvPr/>
        </p:nvSpPr>
        <p:spPr>
          <a:xfrm>
            <a:off x="9381744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scope-4-title"/>
          <p:cNvSpPr txBox="1"/>
          <p:nvPr/>
        </p:nvSpPr>
        <p:spPr>
          <a:xfrm>
            <a:off x="10067544" y="17373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Notifications</a:t>
            </a:r>
            <a:endParaRPr lang="en-US" sz="1800" dirty="0"/>
          </a:p>
        </p:txBody>
      </p:sp>
      <p:sp>
        <p:nvSpPr>
          <p:cNvPr id="22" name="scope-4-body"/>
          <p:cNvSpPr txBox="1"/>
          <p:nvPr/>
        </p:nvSpPr>
        <p:spPr>
          <a:xfrm>
            <a:off x="9381744" y="237744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Templates, transactions, custom notifications, My notifications, header bell</a:t>
            </a:r>
            <a:endParaRPr lang="en-US" sz="1500" dirty="0"/>
          </a:p>
        </p:txBody>
      </p:sp>
      <p:sp>
        <p:nvSpPr>
          <p:cNvPr id="23" name="shared-db"/>
          <p:cNvSpPr/>
          <p:nvPr/>
        </p:nvSpPr>
        <p:spPr>
          <a:xfrm>
            <a:off x="548640" y="4343400"/>
            <a:ext cx="11064240" cy="1143000"/>
          </a:xfrm>
          <a:prstGeom prst="roundRect">
            <a:avLst>
              <a:gd name="adj" fmla="val 96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4" name="shared-db-text"/>
          <p:cNvSpPr txBox="1"/>
          <p:nvPr/>
        </p:nvSpPr>
        <p:spPr>
          <a:xfrm>
            <a:off x="868680" y="434340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Shared database. 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You reuse the existing entities. The main solution owns the schema and migrations.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Backend layers: each one only calls the next</a:t>
            </a:r>
            <a:endParaRPr lang="en-US" sz="3600" dirty="0"/>
          </a:p>
        </p:txBody>
      </p:sp>
      <p:sp>
        <p:nvSpPr>
          <p:cNvPr id="3" name="layer-0"/>
          <p:cNvSpPr/>
          <p:nvPr/>
        </p:nvSpPr>
        <p:spPr>
          <a:xfrm>
            <a:off x="548640" y="1417320"/>
            <a:ext cx="329184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layer-0-name"/>
          <p:cNvSpPr txBox="1"/>
          <p:nvPr/>
        </p:nvSpPr>
        <p:spPr>
          <a:xfrm>
            <a:off x="548640" y="1417320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Bidding_API</a:t>
            </a:r>
            <a:endParaRPr lang="en-US" sz="1800" dirty="0"/>
          </a:p>
        </p:txBody>
      </p:sp>
      <p:sp>
        <p:nvSpPr>
          <p:cNvPr id="5" name="layer-0-desc"/>
          <p:cNvSpPr txBox="1"/>
          <p:nvPr/>
        </p:nvSpPr>
        <p:spPr>
          <a:xfrm>
            <a:off x="4206240" y="1417320"/>
            <a:ext cx="7406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Controllers, JWT, middleware, background jobs. Thin: validate input, call a service, return.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Bidding_API/Controllers/V2/  ·  Bidding_API/Common/ServiceExtensions.cs</a:t>
            </a:r>
            <a:endParaRPr lang="en-US" sz="1600" dirty="0"/>
          </a:p>
        </p:txBody>
      </p:sp>
      <p:sp>
        <p:nvSpPr>
          <p:cNvPr id="6" name="layer-0-arrow"/>
          <p:cNvSpPr/>
          <p:nvPr/>
        </p:nvSpPr>
        <p:spPr>
          <a:xfrm>
            <a:off x="2011680" y="2395728"/>
            <a:ext cx="365760" cy="210312"/>
          </a:xfrm>
          <a:prstGeom prst="down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layer-1"/>
          <p:cNvSpPr/>
          <p:nvPr/>
        </p:nvSpPr>
        <p:spPr>
          <a:xfrm>
            <a:off x="548640" y="2624328"/>
            <a:ext cx="3291840" cy="96012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layer-1-name"/>
          <p:cNvSpPr txBox="1"/>
          <p:nvPr/>
        </p:nvSpPr>
        <p:spPr>
          <a:xfrm>
            <a:off x="548640" y="262432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Bidding_Core</a:t>
            </a:r>
            <a:endParaRPr lang="en-US" sz="1800" dirty="0"/>
          </a:p>
        </p:txBody>
      </p:sp>
      <p:sp>
        <p:nvSpPr>
          <p:cNvPr id="9" name="layer-1-desc"/>
          <p:cNvSpPr txBox="1"/>
          <p:nvPr/>
        </p:nvSpPr>
        <p:spPr>
          <a:xfrm>
            <a:off x="4206240" y="2624328"/>
            <a:ext cx="7406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Business services and rules. All decisions and guards live here.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Bidding_Core/Services/  ·  Bidding_Core/Helpers/</a:t>
            </a:r>
            <a:endParaRPr lang="en-US" sz="1600" dirty="0"/>
          </a:p>
        </p:txBody>
      </p:sp>
      <p:sp>
        <p:nvSpPr>
          <p:cNvPr id="10" name="layer-1-arrow"/>
          <p:cNvSpPr/>
          <p:nvPr/>
        </p:nvSpPr>
        <p:spPr>
          <a:xfrm>
            <a:off x="2011680" y="3602736"/>
            <a:ext cx="365760" cy="210312"/>
          </a:xfrm>
          <a:prstGeom prst="down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layer-2"/>
          <p:cNvSpPr/>
          <p:nvPr/>
        </p:nvSpPr>
        <p:spPr>
          <a:xfrm>
            <a:off x="548640" y="3831336"/>
            <a:ext cx="3291840" cy="960120"/>
          </a:xfrm>
          <a:prstGeom prst="roundRect">
            <a:avLst>
              <a:gd name="adj" fmla="val 1142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layer-2-name"/>
          <p:cNvSpPr txBox="1"/>
          <p:nvPr/>
        </p:nvSpPr>
        <p:spPr>
          <a:xfrm>
            <a:off x="548640" y="3831336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Bidding_DLL</a:t>
            </a:r>
            <a:endParaRPr lang="en-US" sz="1800" dirty="0"/>
          </a:p>
        </p:txBody>
      </p:sp>
      <p:sp>
        <p:nvSpPr>
          <p:cNvPr id="13" name="layer-2-desc"/>
          <p:cNvSpPr txBox="1"/>
          <p:nvPr/>
        </p:nvSpPr>
        <p:spPr>
          <a:xfrm>
            <a:off x="4206240" y="3831336"/>
            <a:ext cx="7406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CHDBContext, data access, repositories, seed data.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Bidding_DLL/CHDBContext.cs  ·  Bidding_DLL/Seeding/</a:t>
            </a:r>
            <a:endParaRPr lang="en-US" sz="1600" dirty="0"/>
          </a:p>
        </p:txBody>
      </p:sp>
      <p:sp>
        <p:nvSpPr>
          <p:cNvPr id="14" name="layer-2-arrow"/>
          <p:cNvSpPr/>
          <p:nvPr/>
        </p:nvSpPr>
        <p:spPr>
          <a:xfrm>
            <a:off x="2011680" y="4809744"/>
            <a:ext cx="365760" cy="210312"/>
          </a:xfrm>
          <a:prstGeom prst="down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layer-3"/>
          <p:cNvSpPr/>
          <p:nvPr/>
        </p:nvSpPr>
        <p:spPr>
          <a:xfrm>
            <a:off x="548640" y="5038344"/>
            <a:ext cx="3291840" cy="960120"/>
          </a:xfrm>
          <a:prstGeom prst="roundRect">
            <a:avLst>
              <a:gd name="adj" fmla="val 1142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layer-3-name"/>
          <p:cNvSpPr txBox="1"/>
          <p:nvPr/>
        </p:nvSpPr>
        <p:spPr>
          <a:xfrm>
            <a:off x="548640" y="5038344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Bidding_Models / Common</a:t>
            </a:r>
            <a:endParaRPr lang="en-US" sz="1800" dirty="0"/>
          </a:p>
        </p:txBody>
      </p:sp>
      <p:sp>
        <p:nvSpPr>
          <p:cNvPr id="17" name="layer-3-desc"/>
          <p:cNvSpPr txBox="1"/>
          <p:nvPr/>
        </p:nvSpPr>
        <p:spPr>
          <a:xfrm>
            <a:off x="4206240" y="5038344"/>
            <a:ext cx="7406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Entities, DTOs, enums, crypto and shared helpers.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Bidding_Models/  ·  Bidding_Common/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Backend rules you must keep</a:t>
            </a:r>
            <a:endParaRPr lang="en-US" sz="3600" dirty="0"/>
          </a:p>
        </p:txBody>
      </p:sp>
      <p:sp>
        <p:nvSpPr>
          <p:cNvPr id="3" name="brule-0-card"/>
          <p:cNvSpPr/>
          <p:nvPr/>
        </p:nvSpPr>
        <p:spPr>
          <a:xfrm>
            <a:off x="548640" y="1417320"/>
            <a:ext cx="544068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brule-0-badge"/>
          <p:cNvSpPr/>
          <p:nvPr/>
        </p:nvSpPr>
        <p:spPr>
          <a:xfrm>
            <a:off x="822960" y="169164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brule-0-badge-text"/>
          <p:cNvSpPr txBox="1"/>
          <p:nvPr/>
        </p:nvSpPr>
        <p:spPr>
          <a:xfrm>
            <a:off x="82296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brule-0-title"/>
          <p:cNvSpPr txBox="1"/>
          <p:nvPr/>
        </p:nvSpPr>
        <p:spPr>
          <a:xfrm>
            <a:off x="1508760" y="1691640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No migrations</a:t>
            </a:r>
            <a:endParaRPr lang="en-US" sz="1800" dirty="0"/>
          </a:p>
        </p:txBody>
      </p:sp>
      <p:sp>
        <p:nvSpPr>
          <p:cNvPr id="7" name="brule-0-body"/>
          <p:cNvSpPr txBox="1"/>
          <p:nvPr/>
        </p:nvSpPr>
        <p:spPr>
          <a:xfrm>
            <a:off x="822960" y="2331720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Never add or run EF migrations here. Change the entity, then ask the platform team to migrate the shared database.</a:t>
            </a:r>
            <a:endParaRPr lang="en-US" sz="1600" dirty="0"/>
          </a:p>
        </p:txBody>
      </p:sp>
      <p:sp>
        <p:nvSpPr>
          <p:cNvPr id="8" name="brule-1-card"/>
          <p:cNvSpPr/>
          <p:nvPr/>
        </p:nvSpPr>
        <p:spPr>
          <a:xfrm>
            <a:off x="6172200" y="1417320"/>
            <a:ext cx="544068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brule-1-badge"/>
          <p:cNvSpPr/>
          <p:nvPr/>
        </p:nvSpPr>
        <p:spPr>
          <a:xfrm>
            <a:off x="6446520" y="16916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brule-1-badge-text"/>
          <p:cNvSpPr txBox="1"/>
          <p:nvPr/>
        </p:nvSpPr>
        <p:spPr>
          <a:xfrm>
            <a:off x="644652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brule-1-title"/>
          <p:cNvSpPr txBox="1"/>
          <p:nvPr/>
        </p:nvSpPr>
        <p:spPr>
          <a:xfrm>
            <a:off x="7132320" y="1691640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UI rule = API rule</a:t>
            </a:r>
            <a:endParaRPr lang="en-US" sz="1800" dirty="0"/>
          </a:p>
        </p:txBody>
      </p:sp>
      <p:sp>
        <p:nvSpPr>
          <p:cNvPr id="12" name="brule-1-body"/>
          <p:cNvSpPr txBox="1"/>
          <p:nvPr/>
        </p:nvSpPr>
        <p:spPr>
          <a:xfrm>
            <a:off x="6446520" y="2331720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Any guard the UI applies (hide, disable, block) is also enforced in the service. Return a clear BadRequest message.</a:t>
            </a:r>
            <a:endParaRPr lang="en-US" sz="1600" dirty="0"/>
          </a:p>
        </p:txBody>
      </p:sp>
      <p:sp>
        <p:nvSpPr>
          <p:cNvPr id="13" name="brule-2-card"/>
          <p:cNvSpPr/>
          <p:nvPr/>
        </p:nvSpPr>
        <p:spPr>
          <a:xfrm>
            <a:off x="548640" y="3794760"/>
            <a:ext cx="544068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brule-2-badge"/>
          <p:cNvSpPr/>
          <p:nvPr/>
        </p:nvSpPr>
        <p:spPr>
          <a:xfrm>
            <a:off x="822960" y="406908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brule-2-badge-text"/>
          <p:cNvSpPr txBox="1"/>
          <p:nvPr/>
        </p:nvSpPr>
        <p:spPr>
          <a:xfrm>
            <a:off x="822960" y="4069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brule-2-title"/>
          <p:cNvSpPr txBox="1"/>
          <p:nvPr/>
        </p:nvSpPr>
        <p:spPr>
          <a:xfrm>
            <a:off x="1508760" y="4069080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Register every page</a:t>
            </a:r>
            <a:endParaRPr lang="en-US" sz="1800" dirty="0"/>
          </a:p>
        </p:txBody>
      </p:sp>
      <p:sp>
        <p:nvSpPr>
          <p:cNvPr id="17" name="brule-2-body"/>
          <p:cNvSpPr txBox="1"/>
          <p:nvPr/>
        </p:nvSpPr>
        <p:spPr>
          <a:xfrm>
            <a:off x="822960" y="4709160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New route? Add an AppPage with the same URL, so roles and groups can grant it.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Bidding_DLL/Seeding/IdentityAccessAppPagesSeedData.cs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Bidding_DLL/Seeding/IdentityAccessSeedData.cs (role map)</a:t>
            </a:r>
            <a:endParaRPr lang="en-US" sz="1600" dirty="0"/>
          </a:p>
        </p:txBody>
      </p:sp>
      <p:sp>
        <p:nvSpPr>
          <p:cNvPr id="18" name="brule-3-card"/>
          <p:cNvSpPr/>
          <p:nvPr/>
        </p:nvSpPr>
        <p:spPr>
          <a:xfrm>
            <a:off x="6172200" y="3794760"/>
            <a:ext cx="544068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brule-3-badge"/>
          <p:cNvSpPr/>
          <p:nvPr/>
        </p:nvSpPr>
        <p:spPr>
          <a:xfrm>
            <a:off x="6446520" y="406908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brule-3-badge-text"/>
          <p:cNvSpPr txBox="1"/>
          <p:nvPr/>
        </p:nvSpPr>
        <p:spPr>
          <a:xfrm>
            <a:off x="6446520" y="4069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brule-3-title"/>
          <p:cNvSpPr txBox="1"/>
          <p:nvPr/>
        </p:nvSpPr>
        <p:spPr>
          <a:xfrm>
            <a:off x="7132320" y="4069080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Seeder is opt-in</a:t>
            </a:r>
            <a:endParaRPr lang="en-US" sz="1800" dirty="0"/>
          </a:p>
        </p:txBody>
      </p:sp>
      <p:sp>
        <p:nvSpPr>
          <p:cNvPr id="22" name="brule-3-body"/>
          <p:cNvSpPr txBox="1"/>
          <p:nvPr/>
        </p:nvSpPr>
        <p:spPr>
          <a:xfrm>
            <a:off x="6446520" y="4709160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RunIdentityAccessSeeder stays false on the shared database unless agreed.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Bidding_API/appsettings.Development.json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Angular app structure</a:t>
            </a:r>
            <a:endParaRPr lang="en-US" sz="3600" dirty="0"/>
          </a:p>
        </p:txBody>
      </p:sp>
      <p:sp>
        <p:nvSpPr>
          <p:cNvPr id="3" name="tree-0"/>
          <p:cNvSpPr/>
          <p:nvPr/>
        </p:nvSpPr>
        <p:spPr>
          <a:xfrm>
            <a:off x="548640" y="1463040"/>
            <a:ext cx="4114800" cy="82296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ree-0-k"/>
          <p:cNvSpPr txBox="1"/>
          <p:nvPr/>
        </p:nvSpPr>
        <p:spPr>
          <a:xfrm>
            <a:off x="731520" y="14630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</a:t>
            </a:r>
            <a:endParaRPr lang="en-US" sz="1250" dirty="0"/>
          </a:p>
        </p:txBody>
      </p:sp>
      <p:sp>
        <p:nvSpPr>
          <p:cNvPr id="5" name="tree-0-v"/>
          <p:cNvSpPr txBox="1"/>
          <p:nvPr/>
        </p:nvSpPr>
        <p:spPr>
          <a:xfrm>
            <a:off x="4892040" y="1463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auth, interceptors, store, translations, validators, ui (pipeline, pager, paged list)</a:t>
            </a:r>
            <a:endParaRPr lang="en-US" sz="1400" dirty="0"/>
          </a:p>
        </p:txBody>
      </p:sp>
      <p:sp>
        <p:nvSpPr>
          <p:cNvPr id="6" name="tree-1"/>
          <p:cNvSpPr/>
          <p:nvPr/>
        </p:nvSpPr>
        <p:spPr>
          <a:xfrm>
            <a:off x="548640" y="2560320"/>
            <a:ext cx="4114800" cy="82296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ree-1-k"/>
          <p:cNvSpPr txBox="1"/>
          <p:nvPr/>
        </p:nvSpPr>
        <p:spPr>
          <a:xfrm>
            <a:off x="731520" y="25603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TrainingModule/src/app/features/&lt;area&gt;/</a:t>
            </a:r>
            <a:endParaRPr lang="en-US" sz="1250" dirty="0"/>
          </a:p>
        </p:txBody>
      </p:sp>
      <p:sp>
        <p:nvSpPr>
          <p:cNvPr id="8" name="tree-1-v"/>
          <p:cNvSpPr txBox="1"/>
          <p:nvPr/>
        </p:nvSpPr>
        <p:spPr>
          <a:xfrm>
            <a:off x="4892040" y="25603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folder per feature: pages, data services, models</a:t>
            </a:r>
            <a:endParaRPr lang="en-US" sz="1400" dirty="0"/>
          </a:p>
        </p:txBody>
      </p:sp>
      <p:sp>
        <p:nvSpPr>
          <p:cNvPr id="9" name="tree-2"/>
          <p:cNvSpPr/>
          <p:nvPr/>
        </p:nvSpPr>
        <p:spPr>
          <a:xfrm>
            <a:off x="548640" y="3657600"/>
            <a:ext cx="4114800" cy="82296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ree-2-k"/>
          <p:cNvSpPr txBox="1"/>
          <p:nvPr/>
        </p:nvSpPr>
        <p:spPr>
          <a:xfrm>
            <a:off x="731520" y="36576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TrainingModule/src/app/layout/</a:t>
            </a:r>
            <a:endParaRPr lang="en-US" sz="1250" dirty="0"/>
          </a:p>
        </p:txBody>
      </p:sp>
      <p:sp>
        <p:nvSpPr>
          <p:cNvPr id="11" name="tree-2-v"/>
          <p:cNvSpPr txBox="1"/>
          <p:nvPr/>
        </p:nvSpPr>
        <p:spPr>
          <a:xfrm>
            <a:off x="4892040" y="36576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main layout, sidebar, header, notifications bell</a:t>
            </a:r>
            <a:endParaRPr lang="en-US" sz="1400" dirty="0"/>
          </a:p>
        </p:txBody>
      </p:sp>
      <p:sp>
        <p:nvSpPr>
          <p:cNvPr id="12" name="tree-3"/>
          <p:cNvSpPr/>
          <p:nvPr/>
        </p:nvSpPr>
        <p:spPr>
          <a:xfrm>
            <a:off x="548640" y="4754880"/>
            <a:ext cx="4114800" cy="82296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ree-3-k"/>
          <p:cNvSpPr txBox="1"/>
          <p:nvPr/>
        </p:nvSpPr>
        <p:spPr>
          <a:xfrm>
            <a:off x="731520" y="47548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TrainingModule/src/app/shared/</a:t>
            </a:r>
            <a:endParaRPr lang="en-US" sz="1250" dirty="0"/>
          </a:p>
        </p:txBody>
      </p:sp>
      <p:sp>
        <p:nvSpPr>
          <p:cNvPr id="14" name="tree-3-v"/>
          <p:cNvSpPr txBox="1"/>
          <p:nvPr/>
        </p:nvSpPr>
        <p:spPr>
          <a:xfrm>
            <a:off x="4892040" y="47548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small reusable components with no feature logic</a:t>
            </a:r>
            <a:endParaRPr lang="en-US" sz="1400" dirty="0"/>
          </a:p>
        </p:txBody>
      </p:sp>
      <p:sp>
        <p:nvSpPr>
          <p:cNvPr id="15" name="stack"/>
          <p:cNvSpPr/>
          <p:nvPr/>
        </p:nvSpPr>
        <p:spPr>
          <a:xfrm>
            <a:off x="8412480" y="1463040"/>
            <a:ext cx="3200400" cy="4114800"/>
          </a:xfrm>
          <a:prstGeom prst="roundRect">
            <a:avLst>
              <a:gd name="adj" fmla="val 342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routes-path"/>
          <p:cNvSpPr txBox="1"/>
          <p:nvPr/>
        </p:nvSpPr>
        <p:spPr>
          <a:xfrm>
            <a:off x="548640" y="58521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Routes: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TrainingModule/src/app/app.routes.ts</a:t>
            </a:r>
            <a:endParaRPr lang="en-US" sz="1400" dirty="0"/>
          </a:p>
        </p:txBody>
      </p:sp>
      <p:sp>
        <p:nvSpPr>
          <p:cNvPr id="17" name="stack-title"/>
          <p:cNvSpPr txBox="1"/>
          <p:nvPr/>
        </p:nvSpPr>
        <p:spPr>
          <a:xfrm>
            <a:off x="8686800" y="16916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Stack</a:t>
            </a:r>
            <a:endParaRPr lang="en-US" sz="2000" dirty="0"/>
          </a:p>
        </p:txBody>
      </p:sp>
      <p:sp>
        <p:nvSpPr>
          <p:cNvPr id="18" name="stack-body"/>
          <p:cNvSpPr txBox="1"/>
          <p:nvPr/>
        </p:nvSpPr>
        <p:spPr>
          <a:xfrm>
            <a:off x="8686800" y="2286000"/>
            <a:ext cx="2743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Angular 19 standalone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Signals + computed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NgRx feature slices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@angular/localize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Tailwind + Bootstrap classes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Every form goes through the same pipeline</a:t>
            </a:r>
            <a:endParaRPr lang="en-US" sz="3600" dirty="0"/>
          </a:p>
        </p:txBody>
      </p:sp>
      <p:sp>
        <p:nvSpPr>
          <p:cNvPr id="3" name="step-0-card"/>
          <p:cNvSpPr/>
          <p:nvPr/>
        </p:nvSpPr>
        <p:spPr>
          <a:xfrm>
            <a:off x="548640" y="1554480"/>
            <a:ext cx="2514600" cy="265176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ep-0-badge"/>
          <p:cNvSpPr/>
          <p:nvPr/>
        </p:nvSpPr>
        <p:spPr>
          <a:xfrm>
            <a:off x="822960" y="182880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step-0-badge-text"/>
          <p:cNvSpPr txBox="1"/>
          <p:nvPr/>
        </p:nvSpPr>
        <p:spPr>
          <a:xfrm>
            <a:off x="82296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step-0-title"/>
          <p:cNvSpPr txBox="1"/>
          <p:nvPr/>
        </p:nvSpPr>
        <p:spPr>
          <a:xfrm>
            <a:off x="1508760" y="182880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Validators</a:t>
            </a:r>
            <a:endParaRPr lang="en-US" sz="1800" dirty="0"/>
          </a:p>
        </p:txBody>
      </p:sp>
      <p:sp>
        <p:nvSpPr>
          <p:cNvPr id="7" name="step-0-body"/>
          <p:cNvSpPr txBox="1"/>
          <p:nvPr/>
        </p:nvSpPr>
        <p:spPr>
          <a:xfrm>
            <a:off x="822960" y="24688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@validators: shared ValidatorFns and cross-field helpers</a:t>
            </a:r>
            <a:endParaRPr lang="en-US" sz="1500" dirty="0"/>
          </a:p>
        </p:txBody>
      </p:sp>
      <p:sp>
        <p:nvSpPr>
          <p:cNvPr id="8" name="step-0-arrow"/>
          <p:cNvSpPr/>
          <p:nvPr/>
        </p:nvSpPr>
        <p:spPr>
          <a:xfrm>
            <a:off x="3108960" y="2715768"/>
            <a:ext cx="246888" cy="32004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step-1-card"/>
          <p:cNvSpPr/>
          <p:nvPr/>
        </p:nvSpPr>
        <p:spPr>
          <a:xfrm>
            <a:off x="3401568" y="1554480"/>
            <a:ext cx="2514600" cy="265176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ep-1-badge"/>
          <p:cNvSpPr/>
          <p:nvPr/>
        </p:nvSpPr>
        <p:spPr>
          <a:xfrm>
            <a:off x="3675888" y="182880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step-1-badge-text"/>
          <p:cNvSpPr txBox="1"/>
          <p:nvPr/>
        </p:nvSpPr>
        <p:spPr>
          <a:xfrm>
            <a:off x="3675888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step-1-title"/>
          <p:cNvSpPr txBox="1"/>
          <p:nvPr/>
        </p:nvSpPr>
        <p:spPr>
          <a:xfrm>
            <a:off x="4361688" y="182880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Messages</a:t>
            </a:r>
            <a:endParaRPr lang="en-US" sz="1800" dirty="0"/>
          </a:p>
        </p:txBody>
      </p:sp>
      <p:sp>
        <p:nvSpPr>
          <p:cNvPr id="13" name="step-1-body"/>
          <p:cNvSpPr txBox="1"/>
          <p:nvPr/>
        </p:nvSpPr>
        <p:spPr>
          <a:xfrm>
            <a:off x="3675888" y="24688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{{ control | validationMessage }} with localized keys</a:t>
            </a:r>
            <a:endParaRPr lang="en-US" sz="1500" dirty="0"/>
          </a:p>
        </p:txBody>
      </p:sp>
      <p:sp>
        <p:nvSpPr>
          <p:cNvPr id="14" name="step-1-arrow"/>
          <p:cNvSpPr/>
          <p:nvPr/>
        </p:nvSpPr>
        <p:spPr>
          <a:xfrm>
            <a:off x="5961888" y="2715768"/>
            <a:ext cx="246888" cy="32004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step-2-card"/>
          <p:cNvSpPr/>
          <p:nvPr/>
        </p:nvSpPr>
        <p:spPr>
          <a:xfrm>
            <a:off x="6254496" y="1554480"/>
            <a:ext cx="2514600" cy="265176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tep-2-badge"/>
          <p:cNvSpPr/>
          <p:nvPr/>
        </p:nvSpPr>
        <p:spPr>
          <a:xfrm>
            <a:off x="6528816" y="182880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step-2-badge-text"/>
          <p:cNvSpPr txBox="1"/>
          <p:nvPr/>
        </p:nvSpPr>
        <p:spPr>
          <a:xfrm>
            <a:off x="6528816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step-2-title"/>
          <p:cNvSpPr txBox="1"/>
          <p:nvPr/>
        </p:nvSpPr>
        <p:spPr>
          <a:xfrm>
            <a:off x="7214616" y="182880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Pipeline</a:t>
            </a:r>
            <a:endParaRPr lang="en-US" sz="1800" dirty="0"/>
          </a:p>
        </p:txBody>
      </p:sp>
      <p:sp>
        <p:nvSpPr>
          <p:cNvPr id="19" name="step-2-body"/>
          <p:cNvSpPr txBox="1"/>
          <p:nvPr/>
        </p:nvSpPr>
        <p:spPr>
          <a:xfrm>
            <a:off x="6528816" y="24688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FormPipelineService: touch, validate, wait for async validators, then submit</a:t>
            </a:r>
            <a:endParaRPr lang="en-US" sz="1500" dirty="0"/>
          </a:p>
        </p:txBody>
      </p:sp>
      <p:sp>
        <p:nvSpPr>
          <p:cNvPr id="20" name="step-2-arrow"/>
          <p:cNvSpPr/>
          <p:nvPr/>
        </p:nvSpPr>
        <p:spPr>
          <a:xfrm>
            <a:off x="8814816" y="2715768"/>
            <a:ext cx="246888" cy="32004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step-3-card"/>
          <p:cNvSpPr/>
          <p:nvPr/>
        </p:nvSpPr>
        <p:spPr>
          <a:xfrm>
            <a:off x="9107424" y="1554480"/>
            <a:ext cx="2514600" cy="265176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step-3-badge"/>
          <p:cNvSpPr/>
          <p:nvPr/>
        </p:nvSpPr>
        <p:spPr>
          <a:xfrm>
            <a:off x="9381744" y="18288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3" name="step-3-badge-text"/>
          <p:cNvSpPr txBox="1"/>
          <p:nvPr/>
        </p:nvSpPr>
        <p:spPr>
          <a:xfrm>
            <a:off x="9381744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4" name="step-3-title"/>
          <p:cNvSpPr txBox="1"/>
          <p:nvPr/>
        </p:nvSpPr>
        <p:spPr>
          <a:xfrm>
            <a:off x="10067544" y="182880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Executor</a:t>
            </a:r>
            <a:endParaRPr lang="en-US" sz="1800" dirty="0"/>
          </a:p>
        </p:txBody>
      </p:sp>
      <p:sp>
        <p:nvSpPr>
          <p:cNvPr id="25" name="step-3-body"/>
          <p:cNvSpPr txBox="1"/>
          <p:nvPr/>
        </p:nvSpPr>
        <p:spPr>
          <a:xfrm>
            <a:off x="9381744" y="24688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AsyncExecutorService: execute() runs the HTTP call and drives loading + toasts</a:t>
            </a:r>
            <a:endParaRPr lang="en-US" sz="1500" dirty="0"/>
          </a:p>
        </p:txBody>
      </p:sp>
      <p:sp>
        <p:nvSpPr>
          <p:cNvPr id="26" name="pipeline-ref"/>
          <p:cNvSpPr txBox="1"/>
          <p:nvPr/>
        </p:nvSpPr>
        <p:spPr>
          <a:xfrm>
            <a:off x="548640" y="4343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Reference: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UI showcase form (/admin/showcase/new). Required fields show * from the validator, never hard-coded.</a:t>
            </a:r>
            <a:endParaRPr lang="en-US" sz="1600" dirty="0"/>
          </a:p>
        </p:txBody>
      </p:sp>
      <p:sp>
        <p:nvSpPr>
          <p:cNvPr id="27" name="pipeline-files"/>
          <p:cNvSpPr/>
          <p:nvPr/>
        </p:nvSpPr>
        <p:spPr>
          <a:xfrm>
            <a:off x="548640" y="4892040"/>
            <a:ext cx="11064240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pipeline-files-label"/>
          <p:cNvSpPr txBox="1"/>
          <p:nvPr/>
        </p:nvSpPr>
        <p:spPr>
          <a:xfrm>
            <a:off x="777240" y="5001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Files</a:t>
            </a:r>
            <a:endParaRPr lang="en-US" sz="1200" dirty="0"/>
          </a:p>
        </p:txBody>
      </p:sp>
      <p:sp>
        <p:nvSpPr>
          <p:cNvPr id="29" name="pipeline-files-0"/>
          <p:cNvSpPr txBox="1"/>
          <p:nvPr/>
        </p:nvSpPr>
        <p:spPr>
          <a:xfrm>
            <a:off x="777240" y="5303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TrainingModule/src/app/core/validators/  (imported as @validators)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TrainingModule/src/app/core/validators/validation-message.pipe.ts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TrainingModule/src/app/core/ui/form-pipeline.service.ts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TrainingModule/src/app/core/ui/async-executor.service.ts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What happens when the user clicks Save</a:t>
            </a:r>
            <a:endParaRPr lang="en-US" sz="3600" dirty="0"/>
          </a:p>
        </p:txBody>
      </p:sp>
      <p:sp>
        <p:nvSpPr>
          <p:cNvPr id="3" name="flow-0-card"/>
          <p:cNvSpPr/>
          <p:nvPr/>
        </p:nvSpPr>
        <p:spPr>
          <a:xfrm>
            <a:off x="548640" y="1417320"/>
            <a:ext cx="260604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flow-0-badge"/>
          <p:cNvSpPr/>
          <p:nvPr/>
        </p:nvSpPr>
        <p:spPr>
          <a:xfrm>
            <a:off x="822960" y="169164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flow-0-badge-text"/>
          <p:cNvSpPr txBox="1"/>
          <p:nvPr/>
        </p:nvSpPr>
        <p:spPr>
          <a:xfrm>
            <a:off x="82296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flow-0-title"/>
          <p:cNvSpPr txBox="1"/>
          <p:nvPr/>
        </p:nvSpPr>
        <p:spPr>
          <a:xfrm>
            <a:off x="1508760" y="16916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Touch &amp; validate</a:t>
            </a:r>
            <a:endParaRPr lang="en-US" sz="1800" dirty="0"/>
          </a:p>
        </p:txBody>
      </p:sp>
      <p:sp>
        <p:nvSpPr>
          <p:cNvPr id="7" name="flow-0-body"/>
          <p:cNvSpPr txBox="1"/>
          <p:nvPr/>
        </p:nvSpPr>
        <p:spPr>
          <a:xfrm>
            <a:off x="822960" y="2331720"/>
            <a:ext cx="2103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markAllAsTouched()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updateValueAndValidity()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Every field shows its error message, not only the ones the user visited.</a:t>
            </a:r>
            <a:endParaRPr lang="en-US" sz="1500" dirty="0"/>
          </a:p>
        </p:txBody>
      </p:sp>
      <p:sp>
        <p:nvSpPr>
          <p:cNvPr id="8" name="flow-0-arrow"/>
          <p:cNvSpPr/>
          <p:nvPr/>
        </p:nvSpPr>
        <p:spPr>
          <a:xfrm>
            <a:off x="3182112" y="2560320"/>
            <a:ext cx="155448" cy="32004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flow-1-card"/>
          <p:cNvSpPr/>
          <p:nvPr/>
        </p:nvSpPr>
        <p:spPr>
          <a:xfrm>
            <a:off x="3367735" y="1417320"/>
            <a:ext cx="260604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flow-1-badge"/>
          <p:cNvSpPr/>
          <p:nvPr/>
        </p:nvSpPr>
        <p:spPr>
          <a:xfrm>
            <a:off x="3642055" y="169164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flow-1-badge-text"/>
          <p:cNvSpPr txBox="1"/>
          <p:nvPr/>
        </p:nvSpPr>
        <p:spPr>
          <a:xfrm>
            <a:off x="3642055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flow-1-title"/>
          <p:cNvSpPr txBox="1"/>
          <p:nvPr/>
        </p:nvSpPr>
        <p:spPr>
          <a:xfrm>
            <a:off x="4327855" y="16916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Wait for async</a:t>
            </a:r>
            <a:endParaRPr lang="en-US" sz="1800" dirty="0"/>
          </a:p>
        </p:txBody>
      </p:sp>
      <p:sp>
        <p:nvSpPr>
          <p:cNvPr id="13" name="flow-1-body"/>
          <p:cNvSpPr txBox="1"/>
          <p:nvPr/>
        </p:nvSpPr>
        <p:spPr>
          <a:xfrm>
            <a:off x="3642055" y="2331720"/>
            <a:ext cx="2103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waitForAllAsyncValidators()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Waits until no control is PENDING, e.g. an HTTP "email already used" check.</a:t>
            </a:r>
            <a:endParaRPr lang="en-US" sz="1500" dirty="0"/>
          </a:p>
        </p:txBody>
      </p:sp>
      <p:sp>
        <p:nvSpPr>
          <p:cNvPr id="14" name="flow-1-arrow"/>
          <p:cNvSpPr/>
          <p:nvPr/>
        </p:nvSpPr>
        <p:spPr>
          <a:xfrm>
            <a:off x="6001207" y="2560320"/>
            <a:ext cx="155448" cy="32004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flow-1-exit-arrow"/>
          <p:cNvSpPr/>
          <p:nvPr/>
        </p:nvSpPr>
        <p:spPr>
          <a:xfrm>
            <a:off x="4533595" y="4096512"/>
            <a:ext cx="274320" cy="274320"/>
          </a:xfrm>
          <a:prstGeom prst="down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flow-1-exit"/>
          <p:cNvSpPr/>
          <p:nvPr/>
        </p:nvSpPr>
        <p:spPr>
          <a:xfrm>
            <a:off x="3367735" y="4434840"/>
            <a:ext cx="2606040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chemeClr val="accent5"/>
            </a:solidFill>
            <a:prstDash val="solid"/>
          </a:ln>
        </p:spPr>
      </p:sp>
      <p:sp>
        <p:nvSpPr>
          <p:cNvPr id="17" name="flow-1-exit-text"/>
          <p:cNvSpPr txBox="1"/>
          <p:nvPr/>
        </p:nvSpPr>
        <p:spPr>
          <a:xfrm>
            <a:off x="3459175" y="443484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Stop: </a:t>
            </a:r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form invalid → 'invalid'</a:t>
            </a:r>
            <a:endParaRPr lang="en-US" sz="1200" dirty="0"/>
          </a:p>
        </p:txBody>
      </p:sp>
      <p:sp>
        <p:nvSpPr>
          <p:cNvPr id="18" name="flow-2-card"/>
          <p:cNvSpPr/>
          <p:nvPr/>
        </p:nvSpPr>
        <p:spPr>
          <a:xfrm>
            <a:off x="6186830" y="1417320"/>
            <a:ext cx="260604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flow-2-badge"/>
          <p:cNvSpPr/>
          <p:nvPr/>
        </p:nvSpPr>
        <p:spPr>
          <a:xfrm>
            <a:off x="6461150" y="169164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flow-2-badge-text"/>
          <p:cNvSpPr txBox="1"/>
          <p:nvPr/>
        </p:nvSpPr>
        <p:spPr>
          <a:xfrm>
            <a:off x="646115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21" name="flow-2-title"/>
          <p:cNvSpPr txBox="1"/>
          <p:nvPr/>
        </p:nvSpPr>
        <p:spPr>
          <a:xfrm>
            <a:off x="7146950" y="16916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Server check</a:t>
            </a:r>
            <a:endParaRPr lang="en-US" sz="1800" dirty="0"/>
          </a:p>
        </p:txBody>
      </p:sp>
      <p:sp>
        <p:nvSpPr>
          <p:cNvPr id="22" name="flow-2-body"/>
          <p:cNvSpPr txBox="1"/>
          <p:nvPr/>
        </p:nvSpPr>
        <p:spPr>
          <a:xfrm>
            <a:off x="6461150" y="2331720"/>
            <a:ext cx="2103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asyncValidate()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Optional. Extra rule that needs the API. Set the field error and return false.</a:t>
            </a:r>
            <a:endParaRPr lang="en-US" sz="1500" dirty="0"/>
          </a:p>
        </p:txBody>
      </p:sp>
      <p:sp>
        <p:nvSpPr>
          <p:cNvPr id="23" name="flow-2-arrow"/>
          <p:cNvSpPr/>
          <p:nvPr/>
        </p:nvSpPr>
        <p:spPr>
          <a:xfrm>
            <a:off x="8820302" y="2560320"/>
            <a:ext cx="155448" cy="32004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4" name="flow-2-exit-arrow"/>
          <p:cNvSpPr/>
          <p:nvPr/>
        </p:nvSpPr>
        <p:spPr>
          <a:xfrm>
            <a:off x="7352690" y="4096512"/>
            <a:ext cx="274320" cy="274320"/>
          </a:xfrm>
          <a:prstGeom prst="down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5" name="flow-2-exit"/>
          <p:cNvSpPr/>
          <p:nvPr/>
        </p:nvSpPr>
        <p:spPr>
          <a:xfrm>
            <a:off x="6186830" y="4434840"/>
            <a:ext cx="2606040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chemeClr val="accent5"/>
            </a:solidFill>
            <a:prstDash val="solid"/>
          </a:ln>
        </p:spPr>
      </p:sp>
      <p:sp>
        <p:nvSpPr>
          <p:cNvPr id="26" name="flow-2-exit-text"/>
          <p:cNvSpPr txBox="1"/>
          <p:nvPr/>
        </p:nvSpPr>
        <p:spPr>
          <a:xfrm>
            <a:off x="6278270" y="443484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Stop: </a:t>
            </a:r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returns false → 'server_validation'</a:t>
            </a:r>
            <a:endParaRPr lang="en-US" sz="1200" dirty="0"/>
          </a:p>
        </p:txBody>
      </p:sp>
      <p:sp>
        <p:nvSpPr>
          <p:cNvPr id="27" name="flow-3-card"/>
          <p:cNvSpPr/>
          <p:nvPr/>
        </p:nvSpPr>
        <p:spPr>
          <a:xfrm>
            <a:off x="9005926" y="1417320"/>
            <a:ext cx="260604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flow-3-badge"/>
          <p:cNvSpPr/>
          <p:nvPr/>
        </p:nvSpPr>
        <p:spPr>
          <a:xfrm>
            <a:off x="9280246" y="16916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flow-3-badge-text"/>
          <p:cNvSpPr txBox="1"/>
          <p:nvPr/>
        </p:nvSpPr>
        <p:spPr>
          <a:xfrm>
            <a:off x="9280246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30" name="flow-3-title"/>
          <p:cNvSpPr txBox="1"/>
          <p:nvPr/>
        </p:nvSpPr>
        <p:spPr>
          <a:xfrm>
            <a:off x="9966046" y="16916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Execute</a:t>
            </a:r>
            <a:endParaRPr lang="en-US" sz="1800" dirty="0"/>
          </a:p>
        </p:txBody>
      </p:sp>
      <p:sp>
        <p:nvSpPr>
          <p:cNvPr id="31" name="flow-3-body"/>
          <p:cNvSpPr txBox="1"/>
          <p:nvPr/>
        </p:nvSpPr>
        <p:spPr>
          <a:xfrm>
            <a:off x="9280246" y="2331720"/>
            <a:ext cx="2103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executor.execute(work)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Spinner on, HTTP call, success toast. Errors become an error toast.</a:t>
            </a:r>
            <a:endParaRPr lang="en-US" sz="1500" dirty="0"/>
          </a:p>
        </p:txBody>
      </p:sp>
      <p:sp>
        <p:nvSpPr>
          <p:cNvPr id="32" name="flow-3-exit-arrow"/>
          <p:cNvSpPr/>
          <p:nvPr/>
        </p:nvSpPr>
        <p:spPr>
          <a:xfrm>
            <a:off x="10171786" y="4096512"/>
            <a:ext cx="274320" cy="274320"/>
          </a:xfrm>
          <a:prstGeom prst="down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3" name="flow-3-exit"/>
          <p:cNvSpPr/>
          <p:nvPr/>
        </p:nvSpPr>
        <p:spPr>
          <a:xfrm>
            <a:off x="9005926" y="4434840"/>
            <a:ext cx="2606040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chemeClr val="accent5"/>
            </a:solidFill>
            <a:prstDash val="solid"/>
          </a:ln>
        </p:spPr>
      </p:sp>
      <p:sp>
        <p:nvSpPr>
          <p:cNvPr id="34" name="flow-3-exit-text"/>
          <p:cNvSpPr txBox="1"/>
          <p:nvPr/>
        </p:nvSpPr>
        <p:spPr>
          <a:xfrm>
            <a:off x="9097366" y="443484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Stop: </a:t>
            </a:r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HTTP fails → 'submit_error'</a:t>
            </a:r>
            <a:endParaRPr lang="en-US" sz="1200" dirty="0"/>
          </a:p>
        </p:txBody>
      </p:sp>
      <p:sp>
        <p:nvSpPr>
          <p:cNvPr id="35" name="flow-result"/>
          <p:cNvSpPr/>
          <p:nvPr/>
        </p:nvSpPr>
        <p:spPr>
          <a:xfrm>
            <a:off x="548640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6" name="flow-result-text"/>
          <p:cNvSpPr txBox="1"/>
          <p:nvPr/>
        </p:nvSpPr>
        <p:spPr>
          <a:xfrm>
            <a:off x="868680" y="507492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Result: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{ ok: true, value } and the page navigates. On any stop it gets { ok: false, reason } and simply returns: the messages are already on screen.</a:t>
            </a:r>
            <a:endParaRPr lang="en-US" sz="1600" dirty="0"/>
          </a:p>
        </p:txBody>
      </p:sp>
      <p:sp>
        <p:nvSpPr>
          <p:cNvPr id="37" name="flow-files"/>
          <p:cNvSpPr txBox="1"/>
          <p:nvPr/>
        </p:nvSpPr>
        <p:spPr>
          <a:xfrm>
            <a:off x="548640" y="5925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Files: </a:t>
            </a:r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TrainingModule/src/app/core/ui/form-pipeline.service.ts  ·  TrainingModule/src/app/core/ui/form-pipeline.types.ts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The pipeline in a real page</a:t>
            </a:r>
            <a:endParaRPr lang="en-US" sz="3600" dirty="0"/>
          </a:p>
        </p:txBody>
      </p:sp>
      <p:sp>
        <p:nvSpPr>
          <p:cNvPr id="3" name="code-bg"/>
          <p:cNvSpPr/>
          <p:nvPr/>
        </p:nvSpPr>
        <p:spPr>
          <a:xfrm>
            <a:off x="548640" y="1371600"/>
            <a:ext cx="6400800" cy="4206240"/>
          </a:xfrm>
          <a:prstGeom prst="roundRect">
            <a:avLst>
              <a:gd name="adj" fmla="val 260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ode-text"/>
          <p:cNvSpPr txBox="1"/>
          <p:nvPr/>
        </p:nvSpPr>
        <p:spPr>
          <a:xfrm>
            <a:off x="822960" y="1481328"/>
            <a:ext cx="59436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save(): Promise&lt;void&gt;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id = this.itemId();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result = await this.formPipeline.run({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form: this.form,                      // 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work: () =&gt; {                         // 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const body = showcaseRequest(this.form);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return firstValueFrom(id == null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? this.api.create(body)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this.api.update(id, body));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execute: {                            // 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progressMessage: $localize`Saving…`,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successMessage: $localize`Record saved.`,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(!isFormPipelineSuccess(result)) return;  // 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void this.router.navigate([this.backToList]);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5" name="code-caption"/>
          <p:cNvSpPr txBox="1"/>
          <p:nvPr/>
        </p:nvSpPr>
        <p:spPr>
          <a:xfrm>
            <a:off x="548640" y="5669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TrainingModule/src/app/features/admin/showcase/showcase-form-page.component.ts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TrainingModule/src/app/features/admin/showcase/showcase-form.ts</a:t>
            </a:r>
            <a:endParaRPr lang="en-US" sz="1050" dirty="0"/>
          </a:p>
        </p:txBody>
      </p:sp>
      <p:sp>
        <p:nvSpPr>
          <p:cNvPr id="6" name="cn-0-badge"/>
          <p:cNvSpPr/>
          <p:nvPr/>
        </p:nvSpPr>
        <p:spPr>
          <a:xfrm>
            <a:off x="7269480" y="148132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cn-0-badge-text"/>
          <p:cNvSpPr txBox="1"/>
          <p:nvPr/>
        </p:nvSpPr>
        <p:spPr>
          <a:xfrm>
            <a:off x="7269480" y="1481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cn-0-t"/>
          <p:cNvSpPr txBox="1"/>
          <p:nvPr/>
        </p:nvSpPr>
        <p:spPr>
          <a:xfrm>
            <a:off x="795528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Built in showcase-form.ts with @validators. Same rules as Bidding_Core/Helpers/ShowcaseRules.cs.</a:t>
            </a:r>
            <a:endParaRPr lang="en-US" sz="1400" dirty="0"/>
          </a:p>
        </p:txBody>
      </p:sp>
      <p:sp>
        <p:nvSpPr>
          <p:cNvPr id="9" name="cn-1-badge"/>
          <p:cNvSpPr/>
          <p:nvPr/>
        </p:nvSpPr>
        <p:spPr>
          <a:xfrm>
            <a:off x="7269480" y="2414016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cn-1-badge-text"/>
          <p:cNvSpPr txBox="1"/>
          <p:nvPr/>
        </p:nvSpPr>
        <p:spPr>
          <a:xfrm>
            <a:off x="7269480" y="24140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cn-1-t"/>
          <p:cNvSpPr txBox="1"/>
          <p:nvPr/>
        </p:nvSpPr>
        <p:spPr>
          <a:xfrm>
            <a:off x="7955280" y="2304288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Only the HTTP call. Runs only when the form is valid.</a:t>
            </a:r>
            <a:endParaRPr lang="en-US" sz="1400" dirty="0"/>
          </a:p>
        </p:txBody>
      </p:sp>
      <p:sp>
        <p:nvSpPr>
          <p:cNvPr id="12" name="cn-2-badge"/>
          <p:cNvSpPr/>
          <p:nvPr/>
        </p:nvSpPr>
        <p:spPr>
          <a:xfrm>
            <a:off x="7269480" y="3346704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cn-2-badge-text"/>
          <p:cNvSpPr txBox="1"/>
          <p:nvPr/>
        </p:nvSpPr>
        <p:spPr>
          <a:xfrm>
            <a:off x="7269480" y="33467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cn-2-t"/>
          <p:cNvSpPr txBox="1"/>
          <p:nvPr/>
        </p:nvSpPr>
        <p:spPr>
          <a:xfrm>
            <a:off x="7955280" y="3236976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Progress and success text for the global overlay and toast.</a:t>
            </a:r>
            <a:endParaRPr lang="en-US" sz="1400" dirty="0"/>
          </a:p>
        </p:txBody>
      </p:sp>
      <p:sp>
        <p:nvSpPr>
          <p:cNvPr id="15" name="cn-3-badge"/>
          <p:cNvSpPr/>
          <p:nvPr/>
        </p:nvSpPr>
        <p:spPr>
          <a:xfrm>
            <a:off x="7269480" y="427939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cn-3-badge-text"/>
          <p:cNvSpPr txBox="1"/>
          <p:nvPr/>
        </p:nvSpPr>
        <p:spPr>
          <a:xfrm>
            <a:off x="7269480" y="42793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cn-3-t"/>
          <p:cNvSpPr txBox="1"/>
          <p:nvPr/>
        </p:nvSpPr>
        <p:spPr>
          <a:xfrm>
            <a:off x="7955280" y="4169664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Stop on failure. On success, navigate back to the list.</a:t>
            </a:r>
            <a:endParaRPr lang="en-US" sz="1400" dirty="0"/>
          </a:p>
        </p:txBody>
      </p:sp>
      <p:sp>
        <p:nvSpPr>
          <p:cNvPr id="18" name="no-list"/>
          <p:cNvSpPr/>
          <p:nvPr/>
        </p:nvSpPr>
        <p:spPr>
          <a:xfrm>
            <a:off x="7269480" y="5166360"/>
            <a:ext cx="434340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no-list-text"/>
          <p:cNvSpPr txBox="1"/>
          <p:nvPr/>
        </p:nvSpPr>
        <p:spPr>
          <a:xfrm>
            <a:off x="7452360" y="5166360"/>
            <a:ext cx="4023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Not in the page: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try/catch, loading flags, toast calls, markAllAsTouched. Errors show via {{ control | validationMessage }}.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One loading overlay, one error path</a:t>
            </a:r>
            <a:endParaRPr lang="en-US" sz="3600" dirty="0"/>
          </a:p>
        </p:txBody>
      </p:sp>
      <p:sp>
        <p:nvSpPr>
          <p:cNvPr id="3" name="loading-card"/>
          <p:cNvSpPr/>
          <p:nvPr/>
        </p:nvSpPr>
        <p:spPr>
          <a:xfrm>
            <a:off x="548640" y="1463040"/>
            <a:ext cx="5394960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oading-badge"/>
          <p:cNvSpPr/>
          <p:nvPr/>
        </p:nvSpPr>
        <p:spPr>
          <a:xfrm>
            <a:off x="822960" y="173736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loading-badge-text"/>
          <p:cNvSpPr txBox="1"/>
          <p:nvPr/>
        </p:nvSpPr>
        <p:spPr>
          <a:xfrm>
            <a:off x="82296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</a:t>
            </a:r>
            <a:endParaRPr lang="en-US" sz="1600" dirty="0"/>
          </a:p>
        </p:txBody>
      </p:sp>
      <p:sp>
        <p:nvSpPr>
          <p:cNvPr id="6" name="loading-title"/>
          <p:cNvSpPr txBox="1"/>
          <p:nvPr/>
        </p:nvSpPr>
        <p:spPr>
          <a:xfrm>
            <a:off x="1508760" y="1737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Loading (uiAsync)</a:t>
            </a:r>
            <a:endParaRPr lang="en-US" sz="1800" dirty="0"/>
          </a:p>
        </p:txBody>
      </p:sp>
      <p:sp>
        <p:nvSpPr>
          <p:cNvPr id="7" name="loading-body"/>
          <p:cNvSpPr txBox="1"/>
          <p:nvPr/>
        </p:nvSpPr>
        <p:spPr>
          <a:xfrm>
            <a:off x="822960" y="2377440"/>
            <a:ext cx="4892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AsyncExecutorService.execute() increments uiAsync.pendingDepth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MainLayout shows the blocking spinner while work is pending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Fetches: recordSuccess false; mutations: success toast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No component-level "Loading…" rows or spinners</a:t>
            </a:r>
            <a:endParaRPr lang="en-US" sz="1600" dirty="0"/>
          </a:p>
        </p:txBody>
      </p:sp>
      <p:sp>
        <p:nvSpPr>
          <p:cNvPr id="8" name="errors-card"/>
          <p:cNvSpPr/>
          <p:nvPr/>
        </p:nvSpPr>
        <p:spPr>
          <a:xfrm>
            <a:off x="6217920" y="1463040"/>
            <a:ext cx="5394960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errors-badge"/>
          <p:cNvSpPr/>
          <p:nvPr/>
        </p:nvSpPr>
        <p:spPr>
          <a:xfrm>
            <a:off x="6492240" y="17373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errors-badge-text"/>
          <p:cNvSpPr txBox="1"/>
          <p:nvPr/>
        </p:nvSpPr>
        <p:spPr>
          <a:xfrm>
            <a:off x="649224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</a:t>
            </a:r>
            <a:endParaRPr lang="en-US" sz="1600" dirty="0"/>
          </a:p>
        </p:txBody>
      </p:sp>
      <p:sp>
        <p:nvSpPr>
          <p:cNvPr id="11" name="errors-title"/>
          <p:cNvSpPr txBox="1"/>
          <p:nvPr/>
        </p:nvSpPr>
        <p:spPr>
          <a:xfrm>
            <a:off x="7178040" y="1737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Errors</a:t>
            </a:r>
            <a:endParaRPr lang="en-US" sz="1800" dirty="0"/>
          </a:p>
        </p:txBody>
      </p:sp>
      <p:sp>
        <p:nvSpPr>
          <p:cNvPr id="12" name="errors-body"/>
          <p:cNvSpPr txBox="1"/>
          <p:nvPr/>
        </p:nvSpPr>
        <p:spPr>
          <a:xfrm>
            <a:off x="6492240" y="2377440"/>
            <a:ext cx="4892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httpErrorInterceptor turns API failures into user messages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GlobalErrorHandler + ClientErrorReporter catch client crashes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API ExceptionMiddleware returns a support ticket reference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Never swallow errors in a component</a:t>
            </a:r>
            <a:endParaRPr lang="en-US" sz="1600" dirty="0"/>
          </a:p>
        </p:txBody>
      </p:sp>
      <p:sp>
        <p:nvSpPr>
          <p:cNvPr id="13" name="loading-files"/>
          <p:cNvSpPr/>
          <p:nvPr/>
        </p:nvSpPr>
        <p:spPr>
          <a:xfrm>
            <a:off x="548640" y="4754880"/>
            <a:ext cx="1106424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loading-files-label"/>
          <p:cNvSpPr txBox="1"/>
          <p:nvPr/>
        </p:nvSpPr>
        <p:spPr>
          <a:xfrm>
            <a:off x="777240" y="48646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Files</a:t>
            </a:r>
            <a:endParaRPr lang="en-US" sz="1200" dirty="0"/>
          </a:p>
        </p:txBody>
      </p:sp>
      <p:sp>
        <p:nvSpPr>
          <p:cNvPr id="15" name="loading-files-0"/>
          <p:cNvSpPr txBox="1"/>
          <p:nvPr/>
        </p:nvSpPr>
        <p:spPr>
          <a:xfrm>
            <a:off x="777240" y="5166360"/>
            <a:ext cx="5212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TrainingModule/src/app/core/ui/async-executor.service.ts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TrainingModule/src/app/core/store/ui-async/ui-async.reducer.ts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TrainingModule/src/app/layout/main-layout/main-layout.component.ts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TrainingModule/src/app/core/interceptors/http-error.interceptor.ts</a:t>
            </a:r>
            <a:endParaRPr lang="en-US" sz="950" dirty="0"/>
          </a:p>
        </p:txBody>
      </p:sp>
      <p:sp>
        <p:nvSpPr>
          <p:cNvPr id="16" name="loading-files-1"/>
          <p:cNvSpPr txBox="1"/>
          <p:nvPr/>
        </p:nvSpPr>
        <p:spPr>
          <a:xfrm>
            <a:off x="6080760" y="5166360"/>
            <a:ext cx="5212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TrainingModule/src/app/core/errors/global-error-handler.ts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TrainingModule/src/app/core/errors/client-error-reporter.service.ts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Bidding_API/ExceptionHandler/ExceptionMiddlewareExtensions.cs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State, language and direction</a:t>
            </a:r>
            <a:endParaRPr lang="en-US" sz="3600" dirty="0"/>
          </a:p>
        </p:txBody>
      </p:sp>
      <p:sp>
        <p:nvSpPr>
          <p:cNvPr id="3" name="ngrx-card"/>
          <p:cNvSpPr/>
          <p:nvPr/>
        </p:nvSpPr>
        <p:spPr>
          <a:xfrm>
            <a:off x="548640" y="1463040"/>
            <a:ext cx="3566160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ngrx-badge"/>
          <p:cNvSpPr/>
          <p:nvPr/>
        </p:nvSpPr>
        <p:spPr>
          <a:xfrm>
            <a:off x="822960" y="173736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ngrx-badge-text"/>
          <p:cNvSpPr txBox="1"/>
          <p:nvPr/>
        </p:nvSpPr>
        <p:spPr>
          <a:xfrm>
            <a:off x="82296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</a:t>
            </a:r>
            <a:endParaRPr lang="en-US" sz="1600" dirty="0"/>
          </a:p>
        </p:txBody>
      </p:sp>
      <p:sp>
        <p:nvSpPr>
          <p:cNvPr id="6" name="ngrx-title"/>
          <p:cNvSpPr txBox="1"/>
          <p:nvPr/>
        </p:nvSpPr>
        <p:spPr>
          <a:xfrm>
            <a:off x="1508760" y="1737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NgRx</a:t>
            </a:r>
            <a:endParaRPr lang="en-US" sz="1800" dirty="0"/>
          </a:p>
        </p:txBody>
      </p:sp>
      <p:sp>
        <p:nvSpPr>
          <p:cNvPr id="7" name="ngrx-body"/>
          <p:cNvSpPr txBox="1"/>
          <p:nvPr/>
        </p:nvSpPr>
        <p:spPr>
          <a:xfrm>
            <a:off x="822960" y="2377440"/>
            <a:ext cx="3063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core/store/&lt;feature&gt;/ flat files: actions, reducer, selectors, state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Write to the store after a successful HTTP call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Clear caches on logout</a:t>
            </a:r>
            <a:endParaRPr lang="en-US" sz="1500" dirty="0"/>
          </a:p>
        </p:txBody>
      </p:sp>
      <p:sp>
        <p:nvSpPr>
          <p:cNvPr id="8" name="i18n-card"/>
          <p:cNvSpPr/>
          <p:nvPr/>
        </p:nvSpPr>
        <p:spPr>
          <a:xfrm>
            <a:off x="4297680" y="1463040"/>
            <a:ext cx="3566160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18n-badge"/>
          <p:cNvSpPr/>
          <p:nvPr/>
        </p:nvSpPr>
        <p:spPr>
          <a:xfrm>
            <a:off x="4572000" y="17373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i18n-badge-text"/>
          <p:cNvSpPr txBox="1"/>
          <p:nvPr/>
        </p:nvSpPr>
        <p:spPr>
          <a:xfrm>
            <a:off x="457200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</a:t>
            </a:r>
            <a:endParaRPr lang="en-US" sz="1600" dirty="0"/>
          </a:p>
        </p:txBody>
      </p:sp>
      <p:sp>
        <p:nvSpPr>
          <p:cNvPr id="11" name="i18n-title"/>
          <p:cNvSpPr txBox="1"/>
          <p:nvPr/>
        </p:nvSpPr>
        <p:spPr>
          <a:xfrm>
            <a:off x="5257800" y="1737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Translations</a:t>
            </a:r>
            <a:endParaRPr lang="en-US" sz="1800" dirty="0"/>
          </a:p>
        </p:txBody>
      </p:sp>
      <p:sp>
        <p:nvSpPr>
          <p:cNvPr id="12" name="i18n-body"/>
          <p:cNvSpPr txBox="1"/>
          <p:nvPr/>
        </p:nvSpPr>
        <p:spPr>
          <a:xfrm>
            <a:off x="4572000" y="2377440"/>
            <a:ext cx="3063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i18n attribute or $localize with a stable @@jobseeker.* ID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Arabic in core/translations/&lt;area&gt;/messages.ar.json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Register new folders in merge-ar-translations.ts</a:t>
            </a:r>
            <a:endParaRPr lang="en-US" sz="1500" dirty="0"/>
          </a:p>
        </p:txBody>
      </p:sp>
      <p:sp>
        <p:nvSpPr>
          <p:cNvPr id="13" name="bilingual-card"/>
          <p:cNvSpPr/>
          <p:nvPr/>
        </p:nvSpPr>
        <p:spPr>
          <a:xfrm>
            <a:off x="8046720" y="1463040"/>
            <a:ext cx="3566160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bilingual-badge"/>
          <p:cNvSpPr/>
          <p:nvPr/>
        </p:nvSpPr>
        <p:spPr>
          <a:xfrm>
            <a:off x="8321040" y="173736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bilingual-badge-text"/>
          <p:cNvSpPr txBox="1"/>
          <p:nvPr/>
        </p:nvSpPr>
        <p:spPr>
          <a:xfrm>
            <a:off x="832104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16" name="bilingual-title"/>
          <p:cNvSpPr txBox="1"/>
          <p:nvPr/>
        </p:nvSpPr>
        <p:spPr>
          <a:xfrm>
            <a:off x="9006840" y="1737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Bilingual data</a:t>
            </a:r>
            <a:endParaRPr lang="en-US" sz="1800" dirty="0"/>
          </a:p>
        </p:txBody>
      </p:sp>
      <p:sp>
        <p:nvSpPr>
          <p:cNvPr id="17" name="bilingual-body"/>
          <p:cNvSpPr txBox="1"/>
          <p:nvPr/>
        </p:nvSpPr>
        <p:spPr>
          <a:xfrm>
            <a:off x="8321040" y="2377440"/>
            <a:ext cx="3063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Fields come in pairs: title_en / title_ar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Forms show both inputs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Read-only views show only the active locale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RTL / LTR set by LocaleService</a:t>
            </a:r>
            <a:endParaRPr lang="en-US" sz="1500" dirty="0"/>
          </a:p>
        </p:txBody>
      </p:sp>
      <p:sp>
        <p:nvSpPr>
          <p:cNvPr id="18" name="state-files"/>
          <p:cNvSpPr/>
          <p:nvPr/>
        </p:nvSpPr>
        <p:spPr>
          <a:xfrm>
            <a:off x="548640" y="4754880"/>
            <a:ext cx="1106424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tate-files-label"/>
          <p:cNvSpPr txBox="1"/>
          <p:nvPr/>
        </p:nvSpPr>
        <p:spPr>
          <a:xfrm>
            <a:off x="777240" y="48646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Files</a:t>
            </a:r>
            <a:endParaRPr lang="en-US" sz="1200" dirty="0"/>
          </a:p>
        </p:txBody>
      </p:sp>
      <p:sp>
        <p:nvSpPr>
          <p:cNvPr id="20" name="state-files-0"/>
          <p:cNvSpPr txBox="1"/>
          <p:nvPr/>
        </p:nvSpPr>
        <p:spPr>
          <a:xfrm>
            <a:off x="777240" y="5166360"/>
            <a:ext cx="5212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TrainingModule/src/app/core/store/&lt;feature&gt;/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TrainingModule/src/app/app.config.ts  (provideState)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TrainingModule/src/app/core/auth/auth.service.ts  (logout clears)</a:t>
            </a:r>
            <a:endParaRPr lang="en-US" sz="950" dirty="0"/>
          </a:p>
        </p:txBody>
      </p:sp>
      <p:sp>
        <p:nvSpPr>
          <p:cNvPr id="21" name="state-files-1"/>
          <p:cNvSpPr txBox="1"/>
          <p:nvPr/>
        </p:nvSpPr>
        <p:spPr>
          <a:xfrm>
            <a:off x="6080760" y="5166360"/>
            <a:ext cx="5212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TrainingModule/src/app/core/translations/&lt;area&gt;/messages.ar.json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TrainingModule/src/app/core/translations/merge-ar-translations.ts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TrainingModule/src/app/core/locale/locale.service.ts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List pages look and behave the same</a:t>
            </a:r>
            <a:endParaRPr lang="en-US" sz="3600" dirty="0"/>
          </a:p>
        </p:txBody>
      </p:sp>
      <p:sp>
        <p:nvSpPr>
          <p:cNvPr id="3" name="wf-shell"/>
          <p:cNvSpPr/>
          <p:nvPr/>
        </p:nvSpPr>
        <p:spPr>
          <a:xfrm>
            <a:off x="548640" y="1463040"/>
            <a:ext cx="6583680" cy="448056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wf-title"/>
          <p:cNvSpPr txBox="1"/>
          <p:nvPr/>
        </p:nvSpPr>
        <p:spPr>
          <a:xfrm>
            <a:off x="822960" y="16916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Page title</a:t>
            </a:r>
            <a:endParaRPr lang="en-US" sz="1600" dirty="0"/>
          </a:p>
        </p:txBody>
      </p:sp>
      <p:sp>
        <p:nvSpPr>
          <p:cNvPr id="5" name="wf-btn-0"/>
          <p:cNvSpPr/>
          <p:nvPr/>
        </p:nvSpPr>
        <p:spPr>
          <a:xfrm>
            <a:off x="5212080" y="1664208"/>
            <a:ext cx="457200" cy="4572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wf-btn-1"/>
          <p:cNvSpPr/>
          <p:nvPr/>
        </p:nvSpPr>
        <p:spPr>
          <a:xfrm>
            <a:off x="5760720" y="1664208"/>
            <a:ext cx="457200" cy="4572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wf-btn-2"/>
          <p:cNvSpPr/>
          <p:nvPr/>
        </p:nvSpPr>
        <p:spPr>
          <a:xfrm>
            <a:off x="6309360" y="1664208"/>
            <a:ext cx="457200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wf-search"/>
          <p:cNvSpPr/>
          <p:nvPr/>
        </p:nvSpPr>
        <p:spPr>
          <a:xfrm>
            <a:off x="822960" y="2331720"/>
            <a:ext cx="6035040" cy="4572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wf-search-text"/>
          <p:cNvSpPr txBox="1"/>
          <p:nvPr/>
        </p:nvSpPr>
        <p:spPr>
          <a:xfrm>
            <a:off x="960120" y="2331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Search… (runs as you type)</a:t>
            </a:r>
            <a:endParaRPr lang="en-US" sz="1200" dirty="0"/>
          </a:p>
        </p:txBody>
      </p:sp>
      <p:sp>
        <p:nvSpPr>
          <p:cNvPr id="10" name="wf-row-0"/>
          <p:cNvSpPr/>
          <p:nvPr/>
        </p:nvSpPr>
        <p:spPr>
          <a:xfrm>
            <a:off x="822960" y="3017520"/>
            <a:ext cx="6035040" cy="365760"/>
          </a:xfrm>
          <a:prstGeom prst="rect">
            <a:avLst/>
          </a:prstGeom>
          <a:solidFill>
            <a:schemeClr val="tx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wf-row-0-n"/>
          <p:cNvSpPr txBox="1"/>
          <p:nvPr/>
        </p:nvSpPr>
        <p:spPr>
          <a:xfrm>
            <a:off x="914400" y="3017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#</a:t>
            </a:r>
            <a:endParaRPr lang="en-US" sz="1200" dirty="0"/>
          </a:p>
        </p:txBody>
      </p:sp>
      <p:sp>
        <p:nvSpPr>
          <p:cNvPr id="12" name="wf-row-1"/>
          <p:cNvSpPr/>
          <p:nvPr/>
        </p:nvSpPr>
        <p:spPr>
          <a:xfrm>
            <a:off x="822960" y="3429000"/>
            <a:ext cx="6035040" cy="36576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wf-row-1-n"/>
          <p:cNvSpPr txBox="1"/>
          <p:nvPr/>
        </p:nvSpPr>
        <p:spPr>
          <a:xfrm>
            <a:off x="91440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wf-row-2"/>
          <p:cNvSpPr/>
          <p:nvPr/>
        </p:nvSpPr>
        <p:spPr>
          <a:xfrm>
            <a:off x="822960" y="3840480"/>
            <a:ext cx="6035040" cy="36576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wf-row-2-n"/>
          <p:cNvSpPr txBox="1"/>
          <p:nvPr/>
        </p:nvSpPr>
        <p:spPr>
          <a:xfrm>
            <a:off x="914400" y="3840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wf-row-3"/>
          <p:cNvSpPr/>
          <p:nvPr/>
        </p:nvSpPr>
        <p:spPr>
          <a:xfrm>
            <a:off x="822960" y="4251960"/>
            <a:ext cx="6035040" cy="36576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wf-row-3-n"/>
          <p:cNvSpPr txBox="1"/>
          <p:nvPr/>
        </p:nvSpPr>
        <p:spPr>
          <a:xfrm>
            <a:off x="914400" y="4251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wf-row-4"/>
          <p:cNvSpPr/>
          <p:nvPr/>
        </p:nvSpPr>
        <p:spPr>
          <a:xfrm>
            <a:off x="822960" y="4663440"/>
            <a:ext cx="6035040" cy="36576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wf-row-4-n"/>
          <p:cNvSpPr txBox="1"/>
          <p:nvPr/>
        </p:nvSpPr>
        <p:spPr>
          <a:xfrm>
            <a:off x="914400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wf-summary"/>
          <p:cNvSpPr txBox="1"/>
          <p:nvPr/>
        </p:nvSpPr>
        <p:spPr>
          <a:xfrm>
            <a:off x="822960" y="52578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Showing 1–5 of 42</a:t>
            </a:r>
            <a:endParaRPr lang="en-US" sz="1200" dirty="0"/>
          </a:p>
        </p:txBody>
      </p:sp>
      <p:sp>
        <p:nvSpPr>
          <p:cNvPr id="21" name="wf-pager"/>
          <p:cNvSpPr txBox="1"/>
          <p:nvPr/>
        </p:nvSpPr>
        <p:spPr>
          <a:xfrm>
            <a:off x="4114800" y="52578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Per page 5 ▾   ‹   1   ›</a:t>
            </a:r>
            <a:endParaRPr lang="en-US" sz="1200" dirty="0"/>
          </a:p>
        </p:txBody>
      </p:sp>
      <p:sp>
        <p:nvSpPr>
          <p:cNvPr id="22" name="list-rules"/>
          <p:cNvSpPr txBox="1"/>
          <p:nvPr/>
        </p:nvSpPr>
        <p:spPr>
          <a:xfrm>
            <a:off x="7498080" y="1463040"/>
            <a:ext cx="4114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Server-side paging: pageIndex, pageSize and query go to the API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Page sizes 5 / 10 / 15, default 5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First column # is page-aware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Search on change (≈300 ms), no Search button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Filter drawer on mobile, table becomes cards below lg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Reset to page 1 when filters change</a:t>
            </a:r>
            <a:endParaRPr lang="en-US" sz="1500" dirty="0"/>
          </a:p>
        </p:txBody>
      </p:sp>
      <p:sp>
        <p:nvSpPr>
          <p:cNvPr id="23" name="list-files"/>
          <p:cNvSpPr/>
          <p:nvPr/>
        </p:nvSpPr>
        <p:spPr>
          <a:xfrm>
            <a:off x="7498080" y="4617720"/>
            <a:ext cx="4114800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list-files-label"/>
          <p:cNvSpPr txBox="1"/>
          <p:nvPr/>
        </p:nvSpPr>
        <p:spPr>
          <a:xfrm>
            <a:off x="7726680" y="47274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Files</a:t>
            </a:r>
            <a:endParaRPr lang="en-US" sz="1200" dirty="0"/>
          </a:p>
        </p:txBody>
      </p:sp>
      <p:sp>
        <p:nvSpPr>
          <p:cNvPr id="25" name="list-files-0"/>
          <p:cNvSpPr txBox="1"/>
          <p:nvPr/>
        </p:nvSpPr>
        <p:spPr>
          <a:xfrm>
            <a:off x="7726680" y="50292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TrainingModule/src/app/features/admin/showcase/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TrainingModule/src/app/core/ui/table-pager/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TrainingModule/src/app/core/ui/paged-list/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Detail pages and on-screen copy</a:t>
            </a:r>
            <a:endParaRPr lang="en-US" sz="3600" dirty="0"/>
          </a:p>
        </p:txBody>
      </p:sp>
      <p:sp>
        <p:nvSpPr>
          <p:cNvPr id="3" name="grid-title"/>
          <p:cNvSpPr txBox="1"/>
          <p:nvPr/>
        </p:nvSpPr>
        <p:spPr>
          <a:xfrm>
            <a:off x="548640" y="146304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Read-only grid: 4 columns on desktop</a:t>
            </a:r>
            <a:endParaRPr lang="en-US" sz="1800" dirty="0"/>
          </a:p>
        </p:txBody>
      </p:sp>
      <p:sp>
        <p:nvSpPr>
          <p:cNvPr id="4" name="grid-0-0"/>
          <p:cNvSpPr/>
          <p:nvPr/>
        </p:nvSpPr>
        <p:spPr>
          <a:xfrm>
            <a:off x="548640" y="2057400"/>
            <a:ext cx="1600200" cy="50292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5" name="grid-0-0-t"/>
          <p:cNvSpPr txBox="1"/>
          <p:nvPr/>
        </p:nvSpPr>
        <p:spPr>
          <a:xfrm>
            <a:off x="658368" y="20574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Label</a:t>
            </a:r>
            <a:endParaRPr lang="en-US" sz="1300" dirty="0"/>
          </a:p>
        </p:txBody>
      </p:sp>
      <p:sp>
        <p:nvSpPr>
          <p:cNvPr id="6" name="grid-0-1"/>
          <p:cNvSpPr/>
          <p:nvPr/>
        </p:nvSpPr>
        <p:spPr>
          <a:xfrm>
            <a:off x="2194560" y="2057400"/>
            <a:ext cx="1600200" cy="50292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7" name="grid-0-1-t"/>
          <p:cNvSpPr txBox="1"/>
          <p:nvPr/>
        </p:nvSpPr>
        <p:spPr>
          <a:xfrm>
            <a:off x="2304288" y="20574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Value</a:t>
            </a:r>
            <a:endParaRPr lang="en-US" sz="1300" dirty="0"/>
          </a:p>
        </p:txBody>
      </p:sp>
      <p:sp>
        <p:nvSpPr>
          <p:cNvPr id="8" name="grid-0-2"/>
          <p:cNvSpPr/>
          <p:nvPr/>
        </p:nvSpPr>
        <p:spPr>
          <a:xfrm>
            <a:off x="3840480" y="2057400"/>
            <a:ext cx="1600200" cy="50292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9" name="grid-0-2-t"/>
          <p:cNvSpPr txBox="1"/>
          <p:nvPr/>
        </p:nvSpPr>
        <p:spPr>
          <a:xfrm>
            <a:off x="3950208" y="20574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Label</a:t>
            </a:r>
            <a:endParaRPr lang="en-US" sz="1300" dirty="0"/>
          </a:p>
        </p:txBody>
      </p:sp>
      <p:sp>
        <p:nvSpPr>
          <p:cNvPr id="10" name="grid-0-3"/>
          <p:cNvSpPr/>
          <p:nvPr/>
        </p:nvSpPr>
        <p:spPr>
          <a:xfrm>
            <a:off x="5486400" y="2057400"/>
            <a:ext cx="1600200" cy="50292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1" name="grid-0-3-t"/>
          <p:cNvSpPr txBox="1"/>
          <p:nvPr/>
        </p:nvSpPr>
        <p:spPr>
          <a:xfrm>
            <a:off x="5596128" y="20574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Value</a:t>
            </a:r>
            <a:endParaRPr lang="en-US" sz="1300" dirty="0"/>
          </a:p>
        </p:txBody>
      </p:sp>
      <p:sp>
        <p:nvSpPr>
          <p:cNvPr id="12" name="grid-1-0"/>
          <p:cNvSpPr/>
          <p:nvPr/>
        </p:nvSpPr>
        <p:spPr>
          <a:xfrm>
            <a:off x="548640" y="2670048"/>
            <a:ext cx="1600200" cy="50292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3" name="grid-1-0-t"/>
          <p:cNvSpPr txBox="1"/>
          <p:nvPr/>
        </p:nvSpPr>
        <p:spPr>
          <a:xfrm>
            <a:off x="658368" y="267004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Label</a:t>
            </a:r>
            <a:endParaRPr lang="en-US" sz="1300" dirty="0"/>
          </a:p>
        </p:txBody>
      </p:sp>
      <p:sp>
        <p:nvSpPr>
          <p:cNvPr id="14" name="grid-1-1"/>
          <p:cNvSpPr/>
          <p:nvPr/>
        </p:nvSpPr>
        <p:spPr>
          <a:xfrm>
            <a:off x="2194560" y="2670048"/>
            <a:ext cx="1600200" cy="50292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5" name="grid-1-1-t"/>
          <p:cNvSpPr txBox="1"/>
          <p:nvPr/>
        </p:nvSpPr>
        <p:spPr>
          <a:xfrm>
            <a:off x="2304288" y="267004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Value</a:t>
            </a:r>
            <a:endParaRPr lang="en-US" sz="1300" dirty="0"/>
          </a:p>
        </p:txBody>
      </p:sp>
      <p:sp>
        <p:nvSpPr>
          <p:cNvPr id="16" name="grid-1-2"/>
          <p:cNvSpPr/>
          <p:nvPr/>
        </p:nvSpPr>
        <p:spPr>
          <a:xfrm>
            <a:off x="3840480" y="2670048"/>
            <a:ext cx="1600200" cy="50292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7" name="grid-1-2-t"/>
          <p:cNvSpPr txBox="1"/>
          <p:nvPr/>
        </p:nvSpPr>
        <p:spPr>
          <a:xfrm>
            <a:off x="3950208" y="267004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Label</a:t>
            </a:r>
            <a:endParaRPr lang="en-US" sz="1300" dirty="0"/>
          </a:p>
        </p:txBody>
      </p:sp>
      <p:sp>
        <p:nvSpPr>
          <p:cNvPr id="18" name="grid-1-3"/>
          <p:cNvSpPr/>
          <p:nvPr/>
        </p:nvSpPr>
        <p:spPr>
          <a:xfrm>
            <a:off x="5486400" y="2670048"/>
            <a:ext cx="1600200" cy="50292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9" name="grid-1-3-t"/>
          <p:cNvSpPr txBox="1"/>
          <p:nvPr/>
        </p:nvSpPr>
        <p:spPr>
          <a:xfrm>
            <a:off x="5596128" y="267004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Value</a:t>
            </a:r>
            <a:endParaRPr lang="en-US" sz="1300" dirty="0"/>
          </a:p>
        </p:txBody>
      </p:sp>
      <p:sp>
        <p:nvSpPr>
          <p:cNvPr id="20" name="grid-2-0"/>
          <p:cNvSpPr/>
          <p:nvPr/>
        </p:nvSpPr>
        <p:spPr>
          <a:xfrm>
            <a:off x="548640" y="3282696"/>
            <a:ext cx="1600200" cy="50292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1" name="grid-2-0-t"/>
          <p:cNvSpPr txBox="1"/>
          <p:nvPr/>
        </p:nvSpPr>
        <p:spPr>
          <a:xfrm>
            <a:off x="658368" y="3282696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Notes</a:t>
            </a:r>
            <a:endParaRPr lang="en-US" sz="1300" dirty="0"/>
          </a:p>
        </p:txBody>
      </p:sp>
      <p:sp>
        <p:nvSpPr>
          <p:cNvPr id="22" name="grid-2-1"/>
          <p:cNvSpPr/>
          <p:nvPr/>
        </p:nvSpPr>
        <p:spPr>
          <a:xfrm>
            <a:off x="2194560" y="3282696"/>
            <a:ext cx="4937760" cy="50292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3" name="grid-2-1-t"/>
          <p:cNvSpPr txBox="1"/>
          <p:nvPr/>
        </p:nvSpPr>
        <p:spPr>
          <a:xfrm>
            <a:off x="2304288" y="328269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Long text may span three columns</a:t>
            </a:r>
            <a:endParaRPr lang="en-US" sz="1300" dirty="0"/>
          </a:p>
        </p:txBody>
      </p:sp>
      <p:sp>
        <p:nvSpPr>
          <p:cNvPr id="24" name="detail-rules"/>
          <p:cNvSpPr txBox="1"/>
          <p:nvPr/>
        </p:nvSpPr>
        <p:spPr>
          <a:xfrm>
            <a:off x="548640" y="411480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Section title, then a thin separator line between sections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Actions at the top of the section, aligned to the reading start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Downloads use the attachment chips component (not in this branch yet)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Every page must work at 320 px wide</a:t>
            </a:r>
            <a:endParaRPr lang="en-US" sz="1600" dirty="0"/>
          </a:p>
        </p:txBody>
      </p:sp>
      <p:sp>
        <p:nvSpPr>
          <p:cNvPr id="25" name="copy-card"/>
          <p:cNvSpPr/>
          <p:nvPr/>
        </p:nvSpPr>
        <p:spPr>
          <a:xfrm>
            <a:off x="7680960" y="1463040"/>
            <a:ext cx="3931920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copy-badge"/>
          <p:cNvSpPr/>
          <p:nvPr/>
        </p:nvSpPr>
        <p:spPr>
          <a:xfrm>
            <a:off x="7955280" y="17373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7" name="copy-badge-text"/>
          <p:cNvSpPr txBox="1"/>
          <p:nvPr/>
        </p:nvSpPr>
        <p:spPr>
          <a:xfrm>
            <a:off x="795528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28" name="copy-title"/>
          <p:cNvSpPr txBox="1"/>
          <p:nvPr/>
        </p:nvSpPr>
        <p:spPr>
          <a:xfrm>
            <a:off x="8641080" y="17373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Copy rules</a:t>
            </a:r>
            <a:endParaRPr lang="en-US" sz="1800" dirty="0"/>
          </a:p>
        </p:txBody>
      </p:sp>
      <p:sp>
        <p:nvSpPr>
          <p:cNvPr id="29" name="copy-body"/>
          <p:cNvSpPr txBox="1"/>
          <p:nvPr/>
        </p:nvSpPr>
        <p:spPr>
          <a:xfrm>
            <a:off x="7955280" y="2377440"/>
            <a:ext cx="3429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intro or helper paragraphs under titles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Only add the fields, columns and badges that were asked for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Phone fields are labelled "Phone number"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Empty states and errors are fine</a:t>
            </a:r>
            <a:endParaRPr lang="en-US" sz="1500" dirty="0"/>
          </a:p>
        </p:txBody>
      </p:sp>
      <p:sp>
        <p:nvSpPr>
          <p:cNvPr id="30" name="detail-files"/>
          <p:cNvSpPr/>
          <p:nvPr/>
        </p:nvSpPr>
        <p:spPr>
          <a:xfrm>
            <a:off x="7680960" y="4754880"/>
            <a:ext cx="393192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detail-files-label"/>
          <p:cNvSpPr txBox="1"/>
          <p:nvPr/>
        </p:nvSpPr>
        <p:spPr>
          <a:xfrm>
            <a:off x="7909560" y="48646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Files</a:t>
            </a:r>
            <a:endParaRPr lang="en-US" sz="1200" dirty="0"/>
          </a:p>
        </p:txBody>
      </p:sp>
      <p:sp>
        <p:nvSpPr>
          <p:cNvPr id="32" name="detail-files-0"/>
          <p:cNvSpPr txBox="1"/>
          <p:nvPr/>
        </p:nvSpPr>
        <p:spPr>
          <a:xfrm>
            <a:off x="7909560" y="516636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TrainingModule/src/app/features/admin/showcase/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(View popup: showcase-list-page.component.html)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Adding a new page: the checklist</a:t>
            </a:r>
            <a:endParaRPr lang="en-US" sz="3600" dirty="0"/>
          </a:p>
        </p:txBody>
      </p:sp>
      <p:sp>
        <p:nvSpPr>
          <p:cNvPr id="3" name="chk-0-badge"/>
          <p:cNvSpPr/>
          <p:nvPr/>
        </p:nvSpPr>
        <p:spPr>
          <a:xfrm>
            <a:off x="548640" y="157276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chk-0-badge-text"/>
          <p:cNvSpPr txBox="1"/>
          <p:nvPr/>
        </p:nvSpPr>
        <p:spPr>
          <a:xfrm>
            <a:off x="548640" y="15727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chk-0-t"/>
          <p:cNvSpPr txBox="1"/>
          <p:nvPr/>
        </p:nvSpPr>
        <p:spPr>
          <a:xfrm>
            <a:off x="1280160" y="14173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Route and sidebar link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TrainingModule/src/app/app.routes.ts</a:t>
            </a:r>
            <a:endParaRPr lang="en-US" sz="1700" dirty="0"/>
          </a:p>
        </p:txBody>
      </p:sp>
      <p:sp>
        <p:nvSpPr>
          <p:cNvPr id="6" name="chk-1-badge"/>
          <p:cNvSpPr/>
          <p:nvPr/>
        </p:nvSpPr>
        <p:spPr>
          <a:xfrm>
            <a:off x="548640" y="267004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chk-1-badge-text"/>
          <p:cNvSpPr txBox="1"/>
          <p:nvPr/>
        </p:nvSpPr>
        <p:spPr>
          <a:xfrm>
            <a:off x="548640" y="2670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chk-1-t"/>
          <p:cNvSpPr txBox="1"/>
          <p:nvPr/>
        </p:nvSpPr>
        <p:spPr>
          <a:xfrm>
            <a:off x="1280160" y="25146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AppPage seed entry with the same URL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Bidding_DLL/Seeding/IdentityAccessAppPagesSeedData.cs</a:t>
            </a:r>
            <a:endParaRPr lang="en-US" sz="1700" dirty="0"/>
          </a:p>
        </p:txBody>
      </p:sp>
      <p:sp>
        <p:nvSpPr>
          <p:cNvPr id="9" name="chk-2-badge"/>
          <p:cNvSpPr/>
          <p:nvPr/>
        </p:nvSpPr>
        <p:spPr>
          <a:xfrm>
            <a:off x="548640" y="376732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chk-2-badge-text"/>
          <p:cNvSpPr txBox="1"/>
          <p:nvPr/>
        </p:nvSpPr>
        <p:spPr>
          <a:xfrm>
            <a:off x="548640" y="3767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chk-2-t"/>
          <p:cNvSpPr txBox="1"/>
          <p:nvPr/>
        </p:nvSpPr>
        <p:spPr>
          <a:xfrm>
            <a:off x="1280160" y="36118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API endpoint + service rule + DTOs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Bidding_API/Controllers/V2/ · Bidding_Core/Services/</a:t>
            </a:r>
            <a:endParaRPr lang="en-US" sz="1700" dirty="0"/>
          </a:p>
        </p:txBody>
      </p:sp>
      <p:sp>
        <p:nvSpPr>
          <p:cNvPr id="12" name="chk-3-badge"/>
          <p:cNvSpPr/>
          <p:nvPr/>
        </p:nvSpPr>
        <p:spPr>
          <a:xfrm>
            <a:off x="548640" y="486460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chk-3-badge-text"/>
          <p:cNvSpPr txBox="1"/>
          <p:nvPr/>
        </p:nvSpPr>
        <p:spPr>
          <a:xfrm>
            <a:off x="548640" y="4864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chk-3-t"/>
          <p:cNvSpPr txBox="1"/>
          <p:nvPr/>
        </p:nvSpPr>
        <p:spPr>
          <a:xfrm>
            <a:off x="1280160" y="470916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Data service, then NgRx slice if shared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TrainingModule/src/app/core/store/&lt;feature&gt;/</a:t>
            </a:r>
            <a:endParaRPr lang="en-US" sz="1700" dirty="0"/>
          </a:p>
        </p:txBody>
      </p:sp>
      <p:sp>
        <p:nvSpPr>
          <p:cNvPr id="15" name="chk-4-badge"/>
          <p:cNvSpPr/>
          <p:nvPr/>
        </p:nvSpPr>
        <p:spPr>
          <a:xfrm>
            <a:off x="6172200" y="157276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chk-4-badge-text"/>
          <p:cNvSpPr txBox="1"/>
          <p:nvPr/>
        </p:nvSpPr>
        <p:spPr>
          <a:xfrm>
            <a:off x="6172200" y="15727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7" name="chk-4-t"/>
          <p:cNvSpPr txBox="1"/>
          <p:nvPr/>
        </p:nvSpPr>
        <p:spPr>
          <a:xfrm>
            <a:off x="6903720" y="14173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Form pipeline, executor, validators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TrainingModule/src/app/core/ui/form-pipeline.service.ts</a:t>
            </a:r>
            <a:endParaRPr lang="en-US" sz="1700" dirty="0"/>
          </a:p>
        </p:txBody>
      </p:sp>
      <p:sp>
        <p:nvSpPr>
          <p:cNvPr id="18" name="chk-5-badge"/>
          <p:cNvSpPr/>
          <p:nvPr/>
        </p:nvSpPr>
        <p:spPr>
          <a:xfrm>
            <a:off x="6172200" y="267004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chk-5-badge-text"/>
          <p:cNvSpPr txBox="1"/>
          <p:nvPr/>
        </p:nvSpPr>
        <p:spPr>
          <a:xfrm>
            <a:off x="6172200" y="2670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0" name="chk-5-t"/>
          <p:cNvSpPr txBox="1"/>
          <p:nvPr/>
        </p:nvSpPr>
        <p:spPr>
          <a:xfrm>
            <a:off x="6903720" y="25146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English in templates, Arabic translations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TrainingModule/src/app/core/translations/&lt;area&gt;/</a:t>
            </a:r>
            <a:endParaRPr lang="en-US" sz="1700" dirty="0"/>
          </a:p>
        </p:txBody>
      </p:sp>
      <p:sp>
        <p:nvSpPr>
          <p:cNvPr id="21" name="chk-6-badge"/>
          <p:cNvSpPr/>
          <p:nvPr/>
        </p:nvSpPr>
        <p:spPr>
          <a:xfrm>
            <a:off x="6172200" y="376732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2" name="chk-6-badge-text"/>
          <p:cNvSpPr txBox="1"/>
          <p:nvPr/>
        </p:nvSpPr>
        <p:spPr>
          <a:xfrm>
            <a:off x="6172200" y="3767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23" name="chk-6-t"/>
          <p:cNvSpPr txBox="1"/>
          <p:nvPr/>
        </p:nvSpPr>
        <p:spPr>
          <a:xfrm>
            <a:off x="6903720" y="36118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Mobile layout and RTL checked</a:t>
            </a:r>
            <a:endParaRPr lang="en-US" sz="1700" dirty="0"/>
          </a:p>
        </p:txBody>
      </p:sp>
      <p:sp>
        <p:nvSpPr>
          <p:cNvPr id="24" name="chk-7-badge"/>
          <p:cNvSpPr/>
          <p:nvPr/>
        </p:nvSpPr>
        <p:spPr>
          <a:xfrm>
            <a:off x="6172200" y="4864608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chk-7-badge-text"/>
          <p:cNvSpPr txBox="1"/>
          <p:nvPr/>
        </p:nvSpPr>
        <p:spPr>
          <a:xfrm>
            <a:off x="6172200" y="4864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</a:t>
            </a:r>
            <a:endParaRPr lang="en-US" sz="1600" dirty="0"/>
          </a:p>
        </p:txBody>
      </p:sp>
      <p:sp>
        <p:nvSpPr>
          <p:cNvPr id="26" name="chk-7-t"/>
          <p:cNvSpPr txBox="1"/>
          <p:nvPr/>
        </p:nvSpPr>
        <p:spPr>
          <a:xfrm>
            <a:off x="6903720" y="470916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2–3 tests for the new rule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Bidding_Core.Tests/ · &lt;component&gt;.spec.ts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Done means tested, bilingual and enforced in the API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Rules live in .cursor/rules/ and TrainingModule/docs/DESIGN-GUIDE.md. Setup is in README.md. Read them before your first PR.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afadh Training">
  <a:themeElements>
    <a:clrScheme name="Nafadh Training">
      <a:dk1>
        <a:srgbClr val="1B2A30"/>
      </a:dk1>
      <a:lt1>
        <a:srgbClr val="FFFFFF"/>
      </a:lt1>
      <a:dk2>
        <a:srgbClr val="0F4C5C"/>
      </a:dk2>
      <a:lt2>
        <a:srgbClr val="EEF4F5"/>
      </a:lt2>
      <a:accent1>
        <a:srgbClr val="0F4C5C"/>
      </a:accent1>
      <a:accent2>
        <a:srgbClr val="E36414"/>
      </a:accent2>
      <a:accent3>
        <a:srgbClr val="5F9EA0"/>
      </a:accent3>
      <a:accent4>
        <a:srgbClr val="FB8B24"/>
      </a:accent4>
      <a:accent5>
        <a:srgbClr val="9A031E"/>
      </a:accent5>
      <a:accent6>
        <a:srgbClr val="6B7C85"/>
      </a:accent6>
      <a:hlink>
        <a:srgbClr val="0F4C5C"/>
      </a:hlink>
      <a:folHlink>
        <a:srgbClr val="5F9EA0"/>
      </a:folHlink>
    </a:clrScheme>
    <a:fontScheme name="Nafadh Training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Training module: rules, standards and patterns</dc:title>
  <dc:subject>PptxGenJS Presentation</dc:subject>
  <dc:creator>NAFADH platform team</dc:creator>
  <cp:lastModifiedBy>NAFADH platform team</cp:lastModifiedBy>
  <cp:revision>1</cp:revision>
  <dcterms:created xsi:type="dcterms:W3CDTF">2026-10-11T03:22:38Z</dcterms:created>
  <dcterms:modified xsi:type="dcterms:W3CDTF">2026-10-11T03:22:38Z</dcterms:modified>
</cp:coreProperties>
</file>